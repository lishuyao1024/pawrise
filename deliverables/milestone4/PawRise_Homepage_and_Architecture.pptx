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50a307da364cbf" /><Relationship Type="http://schemas.openxmlformats.org/officeDocument/2006/relationships/extended-properties" Target="/docProps/app.xml" Id="Rf496c5bea04b4291" /><Relationship Type="http://schemas.openxmlformats.org/officeDocument/2006/relationships/officeDocument" Target="/ppt/presentation.xml" Id="R9f70fd7c1daf41ea" /></Relationships>
</file>

<file path=ppt/presentation.xml><?xml version="1.0" encoding="utf-8"?>
<p:presentation xmlns:p="http://schemas.openxmlformats.org/presentationml/2006/main">
  <p:sldMasterIdLst>
    <p:sldMasterId xmlns:r="http://schemas.openxmlformats.org/officeDocument/2006/relationships" id="2147483648" r:id="Rd1d51bf626e6441f"/>
  </p:sldMasterIdLst>
  <p:notesMasterIdLst>
    <p:notesMasterId xmlns:r="http://schemas.openxmlformats.org/officeDocument/2006/relationships" r:id="R0a73977d73ad447b"/>
  </p:notesMasterIdLst>
  <p:sldIdLst>
    <p:sldId xmlns:r="http://schemas.openxmlformats.org/officeDocument/2006/relationships" id="256" r:id="R7b8d164df2774de4"/>
    <p:sldId xmlns:r="http://schemas.openxmlformats.org/officeDocument/2006/relationships" id="257" r:id="R883de0e106204a34"/>
    <p:sldId xmlns:r="http://schemas.openxmlformats.org/officeDocument/2006/relationships" id="258" r:id="Rcda02ac5f74448c0"/>
    <p:sldId xmlns:r="http://schemas.openxmlformats.org/officeDocument/2006/relationships" id="259" r:id="R98598bf39b7342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93b68df52942b7" /><Relationship Type="http://schemas.openxmlformats.org/officeDocument/2006/relationships/slideMaster" Target="/ppt/slideMasters/slideMaster1.xml" Id="Rd1d51bf626e6441f" /><Relationship Type="http://schemas.openxmlformats.org/officeDocument/2006/relationships/notesMaster" Target="/ppt/notesMasters/notesMaster1.xml" Id="R0a73977d73ad447b" /><Relationship Type="http://schemas.openxmlformats.org/officeDocument/2006/relationships/presProps" Target="/ppt/presProps.xml" Id="R8c09588237464730" /><Relationship Type="http://schemas.openxmlformats.org/officeDocument/2006/relationships/tableStyles" Target="/ppt/tableStyles.xml" Id="R09bafe37de0648fd" /><Relationship Type="http://schemas.openxmlformats.org/officeDocument/2006/relationships/slide" Target="/ppt/slides/slide1.xml" Id="R7b8d164df2774de4" /><Relationship Type="http://schemas.openxmlformats.org/officeDocument/2006/relationships/slide" Target="/ppt/slides/slide2.xml" Id="R883de0e106204a34" /><Relationship Type="http://schemas.openxmlformats.org/officeDocument/2006/relationships/slide" Target="/ppt/slides/slide3.xml" Id="Rcda02ac5f74448c0" /><Relationship Type="http://schemas.openxmlformats.org/officeDocument/2006/relationships/slide" Target="/ppt/slides/slide4.xml" Id="R98598bf39b7342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de7f7bb1ac4d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669b81ab3d477a" /><Relationship Type="http://schemas.openxmlformats.org/officeDocument/2006/relationships/notesMaster" Target="/ppt/notesMasters/notesMaster1.xml" Id="R594c39de69ec43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7fccec88f94b45" /><Relationship Type="http://schemas.openxmlformats.org/officeDocument/2006/relationships/notesMaster" Target="/ppt/notesMasters/notesMaster1.xml" Id="R0a52b350725e4c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16830f1b3b47b0" /><Relationship Type="http://schemas.openxmlformats.org/officeDocument/2006/relationships/notesMaster" Target="/ppt/notesMasters/notesMaster1.xml" Id="R1f0a6a42da644a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958448256b44db" /><Relationship Type="http://schemas.openxmlformats.org/officeDocument/2006/relationships/notesMaster" Target="/ppt/notesMasters/notesMaster1.xml" Id="Rf0ea0554f3e246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0:00–0:20. Hello everyone. Our project is PawRise, a full-stack web application for pet owners. It brings pet profiles, health records, care reminders, and memories into one organized place. In my part, I will briefly explain the problem, how our homepage communicates the solution, and the high-level architecture behind it.</a:t>
            </a:r>
          </a:p>
          <a:p xmlns:a="http://schemas.openxmlformats.org/drawingml/2006/main">
            <a:r>
              <a:t/>
            </a:r>
          </a:p>
          <a:p xmlns:a="http://schemas.openxmlformats.org/drawingml/2006/main">
            <a:r>
              <a:t>[Sources]</a:t>
            </a:r>
          </a:p>
          <a:p xmlns:a="http://schemas.openxmlformats.org/drawingml/2006/main">
            <a:r>
              <a:t>- /Users/haochenlian/Documents/codexproject/pawrise/landing-desktop.png</a:t>
            </a:r>
          </a:p>
          <a:p xmlns:a="http://schemas.openxmlformats.org/drawingml/2006/main">
            <a:r>
              <a:t>- /Users/haochenlian/Documents/codexproject/pawrise/README.md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0:20–1:00. The main challenge is that pet-care information is often scattered. Veterinary instructions may be on paper or in a message, important medication and follow-up dates can be forgotten, and health information and memories may be stored in different places. PawRise brings these pieces together and turns them into one organized care plan. The value is not simply the website itself; it is helping owners move from scattered information to clear next steps.</a:t>
            </a:r>
          </a:p>
          <a:p xmlns:a="http://schemas.openxmlformats.org/drawingml/2006/main">
            <a:r>
              <a:t/>
            </a:r>
          </a:p>
          <a:p xmlns:a="http://schemas.openxmlformats.org/drawingml/2006/main">
            <a:r>
              <a:t>[Sources]</a:t>
            </a:r>
          </a:p>
          <a:p xmlns:a="http://schemas.openxmlformats.org/drawingml/2006/main">
            <a:r>
              <a:t>- /Users/haochenlian/Documents/codexproject/pawrise/landing-why-section.png</a:t>
            </a:r>
          </a:p>
          <a:p xmlns:a="http://schemas.openxmlformats.org/drawingml/2006/main">
            <a:r>
              <a:t>- /Users/haochenlian/Documents/codexproject/pawrise/frontend/src/landing.jsx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1:00–1:50. The homepage is designed as a guided story. The hero gives a clear promise: plan ahead, organize medical records, and keep memories. The Why PawRise section explains the real problem. The feature sections then show how the product supports care planning, medical records, and memories, and the final call to action moves the visitor into the app. One important design decision is the connection between Medical Records and Care Reminders. PawRise can extract medication and follow-up information, but the owner must review and confirm it before any reminder is created.</a:t>
            </a:r>
          </a:p>
          <a:p xmlns:a="http://schemas.openxmlformats.org/drawingml/2006/main">
            <a:r>
              <a:t/>
            </a:r>
          </a:p>
          <a:p xmlns:a="http://schemas.openxmlformats.org/drawingml/2006/main">
            <a:r>
              <a:t>[Sources]</a:t>
            </a:r>
          </a:p>
          <a:p xmlns:a="http://schemas.openxmlformats.org/drawingml/2006/main">
            <a:r>
              <a:t>- /Users/haochenlian/Documents/codexproject/pawrise/landing-features-section.png</a:t>
            </a:r>
          </a:p>
          <a:p xmlns:a="http://schemas.openxmlformats.org/drawingml/2006/main">
            <a:r>
              <a:t>- /Users/haochenlian/Documents/codexproject/pawrise/frontend/src/landing.jsx</a:t>
            </a:r>
          </a:p>
          <a:p xmlns:a="http://schemas.openxmlformats.org/drawingml/2006/main">
            <a:r>
              <a:t>- /Users/haochenlian/Documents/codexproject/pawrise/docs/MEDICAL_RECORDS_AND_REMINDERS.md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1:50–2:50. At a high level, the user interacts with a React and Vite frontend. The frontend communicates with a Flask REST API, and JWT protects authenticated requests. The Flask backend contains the main business areas, including accounts, pet profiles, medical records, reminders, memories, settings, and the dashboard. SQLAlchemy connects the backend to SQLite, while authenticated file storage handles images and uploaded medical records. The medical-record service can use OpenAI structured extraction when it is available, with a local fallback. In both cases, the output is only a draft until the owner reviews it. That is the high-level structure behind PawRise. Now I’ll hand it over to my teammate, who will show the live demo and the main user workflow.</a:t>
            </a:r>
          </a:p>
          <a:p xmlns:a="http://schemas.openxmlformats.org/drawingml/2006/main">
            <a:r>
              <a:t/>
            </a:r>
          </a:p>
          <a:p xmlns:a="http://schemas.openxmlformats.org/drawingml/2006/main">
            <a:r>
              <a:t>[Sources]</a:t>
            </a:r>
          </a:p>
          <a:p xmlns:a="http://schemas.openxmlformats.org/drawingml/2006/main">
            <a:r>
              <a:t>- /Users/haochenlian/Documents/codexproject/pawrise/README.md</a:t>
            </a:r>
          </a:p>
          <a:p xmlns:a="http://schemas.openxmlformats.org/drawingml/2006/main">
            <a:r>
              <a:t>- /Users/haochenlian/Documents/codexproject/pawrise/backend/app/__init__.py</a:t>
            </a:r>
          </a:p>
          <a:p xmlns:a="http://schemas.openxmlformats.org/drawingml/2006/main">
            <a:r>
              <a:t>- /Users/haochenlian/Documents/codexproject/pawrise/backend/app/services/ai_medical_extraction.py</a:t>
            </a:r>
          </a:p>
          <a:p xmlns:a="http://schemas.openxmlformats.org/drawingml/2006/main">
            <a:r>
              <a:t>- /Users/haochenlian/Documents/codexproject/pawrise/backend/app/services/medical_extraction.py</a:t>
            </a:r>
          </a:p>
          <a:p xmlns:a="http://schemas.openxmlformats.org/drawingml/2006/main">
            <a:r>
              <a:t>- /Users/haochenlian/Documents/codexproject/pawrise/frontend/package.json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04cb8c9cdf4f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62df91fe6a4456" /><Relationship Type="http://schemas.openxmlformats.org/officeDocument/2006/relationships/slideLayout" Target="/ppt/slideLayouts/slideLayout1.xml" Id="R16df550700554f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df550700554f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54d7314b8b42b2" /><Relationship Type="http://schemas.openxmlformats.org/officeDocument/2006/relationships/image" Target="/ppt/media/image.jpeg" Id="R04032e34069c40c9" /><Relationship Type="http://schemas.openxmlformats.org/officeDocument/2006/relationships/notesSlide" Target="/ppt/notesSlides/notesSlide1.xml" Id="R4e7a8b288fea4a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dd1f64c4cf46d3" /><Relationship Type="http://schemas.openxmlformats.org/officeDocument/2006/relationships/image" Target="/ppt/media/image2.jpeg" Id="Rea2f6b92af7d4889" /><Relationship Type="http://schemas.openxmlformats.org/officeDocument/2006/relationships/notesSlide" Target="/ppt/notesSlides/notesSlide2.xml" Id="Rd7fa010cdf8140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40472b086145e5" /><Relationship Type="http://schemas.openxmlformats.org/officeDocument/2006/relationships/image" Target="/ppt/media/image3.jpeg" Id="R65d63f72a67142c7" /><Relationship Type="http://schemas.openxmlformats.org/officeDocument/2006/relationships/notesSlide" Target="/ppt/notesSlides/notesSlide3.xml" Id="Rd769cfa139c045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e9a57ee9c54596" /><Relationship Type="http://schemas.openxmlformats.org/officeDocument/2006/relationships/notesSlide" Target="/ppt/notesSlides/notesSlide4.xml" Id="R96e4367870ff472b" /></Relationships>
</file>

<file path=ppt/slides/slide1.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6223F7-10BC-48AC-899B-E8F5811CE7E9}"/>
              </a:ext>
            </a:extLst>
          </p:cNvPr>
          <p:cNvSpPr>
            <a:spLocks xmlns:a="http://schemas.openxmlformats.org/drawingml/2006/main" noGrp="1"/>
          </p:cNvSpPr>
          <p:nvPr/>
        </p:nvSpPr>
        <p:spPr>
          <a:xfrm xmlns:a="http://schemas.openxmlformats.org/drawingml/2006/main">
            <a:off x="0" y="0"/>
            <a:ext cx="4248150" cy="6858000"/>
          </a:xfrm>
          <a:prstGeom xmlns:a="http://schemas.openxmlformats.org/drawingml/2006/main" prst="rect">
            <a:avLst/>
          </a:prstGeom>
          <a:solidFill xmlns:a="http://schemas.openxmlformats.org/drawingml/2006/main">
            <a:srgbClr val="58725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DC3F6B-3AEA-4D9D-92D3-C1F64659B3B2}"/>
              </a:ext>
            </a:extLst>
          </p:cNvPr>
          <p:cNvSpPr>
            <a:spLocks xmlns:a="http://schemas.openxmlformats.org/drawingml/2006/main" noGrp="1"/>
          </p:cNvSpPr>
          <p:nvPr/>
        </p:nvSpPr>
        <p:spPr>
          <a:xfrm xmlns:a="http://schemas.openxmlformats.org/drawingml/2006/main">
            <a:off x="552450" y="552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A5E5B2"/>
                </a:solidFill>
                <a:latin typeface="Arial"/>
                <a:ea typeface="Arial"/>
                <a:cs typeface="Arial"/>
              </a:defRPr>
            </a:pPr>
            <a:r>
              <a:rPr sz="1350" b="1">
                <a:solidFill>
                  <a:srgbClr val="A5E5B2"/>
                </a:solidFill>
                <a:latin typeface="Arial"/>
                <a:ea typeface="Arial"/>
                <a:cs typeface="Arial"/>
              </a:rPr>
              <a:t>PAWRISE</a:t>
            </a:r>
          </a:p>
        </p:txBody>
      </p:sp>
      <p:sp>
        <p:nvSpPr>
          <p:cNvPr id="3" name="">
            <a:extLst xmlns:a="http://schemas.openxmlformats.org/drawingml/2006/main">
              <a:ext uri="{FF2B5EF4-FFF2-40B4-BE49-F238E27FC236}">
                <a16:creationId xmlns:a16="http://schemas.microsoft.com/office/drawing/2014/main" id="{4035399C-2124-411C-9200-109537E07C3B}"/>
              </a:ext>
            </a:extLst>
          </p:cNvPr>
          <p:cNvSpPr>
            <a:spLocks xmlns:a="http://schemas.openxmlformats.org/drawingml/2006/main" noGrp="1"/>
          </p:cNvSpPr>
          <p:nvPr/>
        </p:nvSpPr>
        <p:spPr>
          <a:xfrm xmlns:a="http://schemas.openxmlformats.org/drawingml/2006/main">
            <a:off x="552450" y="1409700"/>
            <a:ext cx="32004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900" b="1">
                <a:solidFill>
                  <a:srgbClr val="FFFFFF"/>
                </a:solidFill>
                <a:latin typeface="Georgia"/>
                <a:ea typeface="Georgia"/>
                <a:cs typeface="Georgia"/>
              </a:defRPr>
            </a:pPr>
            <a:r>
              <a:rPr sz="3900" b="1">
                <a:solidFill>
                  <a:srgbClr val="FFFFFF"/>
                </a:solidFill>
                <a:latin typeface="Georgia"/>
                <a:ea typeface="Georgia"/>
                <a:cs typeface="Georgia"/>
              </a:rPr>
              <a:t>One place for pet health, care, and memories</a:t>
            </a:r>
          </a:p>
        </p:txBody>
      </p:sp>
      <p:sp>
        <p:nvSpPr>
          <p:cNvPr id="4" name="">
            <a:extLst xmlns:a="http://schemas.openxmlformats.org/drawingml/2006/main">
              <a:ext uri="{FF2B5EF4-FFF2-40B4-BE49-F238E27FC236}">
                <a16:creationId xmlns:a16="http://schemas.microsoft.com/office/drawing/2014/main" id="{B96B5B7C-4E74-448D-983B-ED2DFBF613A6}"/>
              </a:ext>
            </a:extLst>
          </p:cNvPr>
          <p:cNvSpPr>
            <a:spLocks xmlns:a="http://schemas.openxmlformats.org/drawingml/2006/main" noGrp="1"/>
          </p:cNvSpPr>
          <p:nvPr/>
        </p:nvSpPr>
        <p:spPr>
          <a:xfrm xmlns:a="http://schemas.openxmlformats.org/drawingml/2006/main">
            <a:off x="552450" y="4248150"/>
            <a:ext cx="781050" cy="57150"/>
          </a:xfrm>
          <a:prstGeom xmlns:a="http://schemas.openxmlformats.org/drawingml/2006/main" prst="rect">
            <a:avLst/>
          </a:prstGeom>
          <a:solidFill xmlns:a="http://schemas.openxmlformats.org/drawingml/2006/main">
            <a:srgbClr val="DF7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F11F1A-311A-4E5F-9847-E503746F4A15}"/>
              </a:ext>
            </a:extLst>
          </p:cNvPr>
          <p:cNvSpPr>
            <a:spLocks xmlns:a="http://schemas.openxmlformats.org/drawingml/2006/main" noGrp="1"/>
          </p:cNvSpPr>
          <p:nvPr/>
        </p:nvSpPr>
        <p:spPr>
          <a:xfrm xmlns:a="http://schemas.openxmlformats.org/drawingml/2006/main">
            <a:off x="552450" y="451485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A full-stack pet care management platform</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4032e34069c40c9"/>
          <a:stretch xmlns:a="http://schemas.openxmlformats.org/drawingml/2006/main"/>
        </p:blipFill>
        <p:spPr>
          <a:xfrm xmlns:a="http://schemas.openxmlformats.org/drawingml/2006/main">
            <a:off x="4610100" y="1466835"/>
            <a:ext cx="6972300" cy="3924330"/>
          </a:xfrm>
          <a:prstGeom xmlns:a="http://schemas.openxmlformats.org/drawingml/2006/main" prst="roundRect">
            <a:avLst>
              <a:gd name="adj" fmla="val 4054"/>
            </a:avLst>
          </a:prstGeom>
        </p:spPr>
      </p:pic>
    </p:spTree>
    <p:extLst>
      <p:ext uri="{BB962C8B-B14F-4D97-AF65-F5344CB8AC3E}">
        <p14:creationId xmlns:p14="http://schemas.microsoft.com/office/powerpoint/2010/main" val="1397479501"/>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9" name="section-kicker">
            <a:extLst xmlns:a="http://schemas.openxmlformats.org/drawingml/2006/main">
              <a:ext uri="{FF2B5EF4-FFF2-40B4-BE49-F238E27FC236}">
                <a16:creationId xmlns:a16="http://schemas.microsoft.com/office/drawing/2014/main" id="{9C39AD0D-C4B6-4488-961C-92CF3F34C7C2}"/>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587257"/>
                </a:solidFill>
                <a:latin typeface="Arial"/>
                <a:ea typeface="Arial"/>
                <a:cs typeface="Arial"/>
              </a:defRPr>
            </a:pPr>
            <a:r>
              <a:rPr sz="1200" b="1">
                <a:solidFill>
                  <a:srgbClr val="587257"/>
                </a:solidFill>
                <a:latin typeface="Arial"/>
                <a:ea typeface="Arial"/>
                <a:cs typeface="Arial"/>
              </a:rPr>
              <a:t>BUSINESS CHALLENGE</a:t>
            </a:r>
          </a:p>
        </p:txBody>
      </p:sp>
      <p:sp>
        <p:nvSpPr>
          <p:cNvPr id="2" name="">
            <a:extLst xmlns:a="http://schemas.openxmlformats.org/drawingml/2006/main">
              <a:ext uri="{FF2B5EF4-FFF2-40B4-BE49-F238E27FC236}">
                <a16:creationId xmlns:a16="http://schemas.microsoft.com/office/drawing/2014/main" id="{6D65DE77-4061-4D0F-8811-4D01DEB6EE51}"/>
              </a:ext>
            </a:extLst>
          </p:cNvPr>
          <p:cNvSpPr>
            <a:spLocks xmlns:a="http://schemas.openxmlformats.org/drawingml/2006/main" noGrp="1"/>
          </p:cNvSpPr>
          <p:nvPr/>
        </p:nvSpPr>
        <p:spPr>
          <a:xfrm xmlns:a="http://schemas.openxmlformats.org/drawingml/2006/main">
            <a:off x="609600" y="781050"/>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2B2621"/>
                </a:solidFill>
                <a:latin typeface="Georgia"/>
                <a:ea typeface="Georgia"/>
                <a:cs typeface="Georgia"/>
              </a:defRPr>
            </a:pPr>
            <a:r>
              <a:rPr sz="2925" b="1">
                <a:solidFill>
                  <a:srgbClr val="2B2621"/>
                </a:solidFill>
                <a:latin typeface="Georgia"/>
                <a:ea typeface="Georgia"/>
                <a:cs typeface="Georgia"/>
              </a:rPr>
              <a:t>Pet care information is often scattered—and easy to miss</a:t>
            </a:r>
          </a:p>
        </p:txBody>
      </p:sp>
      <p:sp>
        <p:nvSpPr>
          <p:cNvPr id="3" name="">
            <a:extLst xmlns:a="http://schemas.openxmlformats.org/drawingml/2006/main">
              <a:ext uri="{FF2B5EF4-FFF2-40B4-BE49-F238E27FC236}">
                <a16:creationId xmlns:a16="http://schemas.microsoft.com/office/drawing/2014/main" id="{A44726F7-270F-46AE-879D-0A5BB8830916}"/>
              </a:ext>
            </a:extLst>
          </p:cNvPr>
          <p:cNvSpPr>
            <a:spLocks xmlns:a="http://schemas.openxmlformats.org/drawingml/2006/main" noGrp="1"/>
          </p:cNvSpPr>
          <p:nvPr/>
        </p:nvSpPr>
        <p:spPr>
          <a:xfrm xmlns:a="http://schemas.openxmlformats.org/drawingml/2006/main">
            <a:off x="609600" y="2095500"/>
            <a:ext cx="447675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2B2621"/>
                </a:solidFill>
                <a:latin typeface="Arial"/>
                <a:ea typeface="Arial"/>
                <a:cs typeface="Arial"/>
              </a:defRPr>
            </a:pPr>
            <a:r>
              <a:rPr sz="1650" b="0">
                <a:solidFill>
                  <a:srgbClr val="2B2621"/>
                </a:solidFill>
                <a:latin typeface="Arial"/>
                <a:ea typeface="Arial"/>
                <a:cs typeface="Arial"/>
              </a:rPr>
              <a:t>Veterinary instructions live in paper documents or messages.</a:t>
            </a:r>
          </a:p>
          <a:p xmlns:a="http://schemas.openxmlformats.org/drawingml/2006/main">
            <a:r>
              <a:t/>
            </a:r>
          </a:p>
          <a:p xmlns:a="http://schemas.openxmlformats.org/drawingml/2006/main">
            <a:pPr algn="l">
              <a:defRPr sz="1650" b="0">
                <a:solidFill>
                  <a:srgbClr val="2B2621"/>
                </a:solidFill>
                <a:latin typeface="Arial"/>
                <a:ea typeface="Arial"/>
                <a:cs typeface="Arial"/>
              </a:defRPr>
            </a:pPr>
            <a:r>
              <a:rPr sz="1650" b="0">
                <a:solidFill>
                  <a:srgbClr val="2B2621"/>
                </a:solidFill>
                <a:latin typeface="Arial"/>
                <a:ea typeface="Arial"/>
                <a:cs typeface="Arial"/>
              </a:rPr>
              <a:t>Medication and follow-up dates can be forgotten.</a:t>
            </a:r>
          </a:p>
          <a:p xmlns:a="http://schemas.openxmlformats.org/drawingml/2006/main">
            <a:r>
              <a:t/>
            </a:r>
          </a:p>
          <a:p xmlns:a="http://schemas.openxmlformats.org/drawingml/2006/main">
            <a:pPr algn="l">
              <a:defRPr sz="1650" b="0">
                <a:solidFill>
                  <a:srgbClr val="2B2621"/>
                </a:solidFill>
                <a:latin typeface="Arial"/>
                <a:ea typeface="Arial"/>
                <a:cs typeface="Arial"/>
              </a:defRPr>
            </a:pPr>
            <a:r>
              <a:rPr sz="1650" b="0">
                <a:solidFill>
                  <a:srgbClr val="2B2621"/>
                </a:solidFill>
                <a:latin typeface="Arial"/>
                <a:ea typeface="Arial"/>
                <a:cs typeface="Arial"/>
              </a:rPr>
              <a:t>Health information and memories are kept in different places.</a:t>
            </a:r>
          </a:p>
        </p:txBody>
      </p:sp>
      <p:sp>
        <p:nvSpPr>
          <p:cNvPr id="4" name="">
            <a:extLst xmlns:a="http://schemas.openxmlformats.org/drawingml/2006/main">
              <a:ext uri="{FF2B5EF4-FFF2-40B4-BE49-F238E27FC236}">
                <a16:creationId xmlns:a16="http://schemas.microsoft.com/office/drawing/2014/main" id="{8FBCC786-09C3-4F25-B7C2-CAA6F013B4D9}"/>
              </a:ext>
            </a:extLst>
          </p:cNvPr>
          <p:cNvSpPr>
            <a:spLocks xmlns:a="http://schemas.openxmlformats.org/drawingml/2006/main" noGrp="1"/>
          </p:cNvSpPr>
          <p:nvPr/>
        </p:nvSpPr>
        <p:spPr>
          <a:xfrm xmlns:a="http://schemas.openxmlformats.org/drawingml/2006/main">
            <a:off x="609600" y="5143500"/>
            <a:ext cx="4476750" cy="876300"/>
          </a:xfrm>
          <a:prstGeom xmlns:a="http://schemas.openxmlformats.org/drawingml/2006/main" prst="roundRect">
            <a:avLst>
              <a:gd name="adj" fmla="val 17391"/>
            </a:avLst>
          </a:prstGeom>
          <a:solidFill xmlns:a="http://schemas.openxmlformats.org/drawingml/2006/main">
            <a:srgbClr val="E6EEE3"/>
          </a:solidFill>
          <a:ln xmlns:a="http://schemas.openxmlformats.org/drawingml/2006/main" w="9525">
            <a:solidFill>
              <a:srgbClr val="587257"/>
            </a:solidFill>
            <a:prstDash val="solid"/>
          </a:ln>
        </p:spPr>
      </p:sp>
      <p:sp>
        <p:nvSpPr>
          <p:cNvPr id="5" name="">
            <a:extLst xmlns:a="http://schemas.openxmlformats.org/drawingml/2006/main">
              <a:ext uri="{FF2B5EF4-FFF2-40B4-BE49-F238E27FC236}">
                <a16:creationId xmlns:a16="http://schemas.microsoft.com/office/drawing/2014/main" id="{D2D8A31E-AAE9-446C-9284-C24924B67B13}"/>
              </a:ext>
            </a:extLst>
          </p:cNvPr>
          <p:cNvSpPr>
            <a:spLocks xmlns:a="http://schemas.openxmlformats.org/drawingml/2006/main" noGrp="1"/>
          </p:cNvSpPr>
          <p:nvPr/>
        </p:nvSpPr>
        <p:spPr>
          <a:xfrm xmlns:a="http://schemas.openxmlformats.org/drawingml/2006/main">
            <a:off x="838200" y="5391150"/>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889"/>
          </a:bodyPr>
          <a:lstStyle xmlns:a="http://schemas.openxmlformats.org/drawingml/2006/main"/>
          <a:p xmlns:a="http://schemas.openxmlformats.org/drawingml/2006/main">
            <a:pPr algn="l">
              <a:defRPr sz="1650" b="1">
                <a:solidFill>
                  <a:srgbClr val="587257"/>
                </a:solidFill>
                <a:latin typeface="Arial"/>
                <a:ea typeface="Arial"/>
                <a:cs typeface="Arial"/>
              </a:defRPr>
            </a:pPr>
            <a:r>
              <a:rPr sz="1650" b="1">
                <a:solidFill>
                  <a:srgbClr val="587257"/>
                </a:solidFill>
                <a:latin typeface="Arial"/>
                <a:ea typeface="Arial"/>
                <a:cs typeface="Arial"/>
              </a:rPr>
              <a:t>Scattered information  →  one organized care plan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a2f6b92af7d4889"/>
          <a:stretch xmlns:a="http://schemas.openxmlformats.org/drawingml/2006/main"/>
        </p:blipFill>
        <p:spPr>
          <a:xfrm xmlns:a="http://schemas.openxmlformats.org/drawingml/2006/main">
            <a:off x="5600700" y="2259962"/>
            <a:ext cx="5981700" cy="3366775"/>
          </a:xfrm>
          <a:prstGeom xmlns:a="http://schemas.openxmlformats.org/drawingml/2006/main" prst="roundRect">
            <a:avLst>
              <a:gd name="adj" fmla="val 5046"/>
            </a:avLst>
          </a:prstGeom>
        </p:spPr>
      </p:pic>
      <p:sp>
        <p:nvSpPr>
          <p:cNvPr id="7" name="">
            <a:extLst xmlns:a="http://schemas.openxmlformats.org/drawingml/2006/main">
              <a:ext uri="{FF2B5EF4-FFF2-40B4-BE49-F238E27FC236}">
                <a16:creationId xmlns:a16="http://schemas.microsoft.com/office/drawing/2014/main" id="{D8A9E8BB-BDF0-4D71-BDFE-7FB8B4113DDC}"/>
              </a:ext>
            </a:extLst>
          </p:cNvPr>
          <p:cNvSpPr>
            <a:spLocks xmlns:a="http://schemas.openxmlformats.org/drawingml/2006/main" noGrp="1"/>
          </p:cNvSpPr>
          <p:nvPr/>
        </p:nvSpPr>
        <p:spPr>
          <a:xfrm xmlns:a="http://schemas.openxmlformats.org/drawingml/2006/main">
            <a:off x="609600" y="64865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6F695F"/>
                </a:solidFill>
                <a:latin typeface="Arial"/>
                <a:ea typeface="Arial"/>
                <a:cs typeface="Arial"/>
              </a:defRPr>
            </a:pPr>
            <a:r>
              <a:rPr sz="825" b="0">
                <a:solidFill>
                  <a:srgbClr val="6F695F"/>
                </a:solidFill>
                <a:latin typeface="Arial"/>
                <a:ea typeface="Arial"/>
                <a:cs typeface="Arial"/>
              </a:rPr>
              <a:t>PAWRISE  •  MILESTONE 4</a:t>
            </a:r>
          </a:p>
        </p:txBody>
      </p:sp>
      <p:sp>
        <p:nvSpPr>
          <p:cNvPr id="8" name="">
            <a:extLst xmlns:a="http://schemas.openxmlformats.org/drawingml/2006/main">
              <a:ext uri="{FF2B5EF4-FFF2-40B4-BE49-F238E27FC236}">
                <a16:creationId xmlns:a16="http://schemas.microsoft.com/office/drawing/2014/main" id="{6F7F3209-BC32-4495-87E6-F50B76131159}"/>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6F695F"/>
                </a:solidFill>
                <a:latin typeface="Arial"/>
                <a:ea typeface="Arial"/>
                <a:cs typeface="Arial"/>
              </a:defRPr>
            </a:pPr>
            <a:r>
              <a:rPr sz="825" b="0">
                <a:solidFill>
                  <a:srgbClr val="6F695F"/>
                </a:solidFill>
                <a:latin typeface="Arial"/>
                <a:ea typeface="Arial"/>
                <a:cs typeface="Arial"/>
              </a:rPr>
              <a:t>2</a:t>
            </a:r>
          </a:p>
        </p:txBody>
      </p:sp>
    </p:spTree>
    <p:extLst>
      <p:ext uri="{BB962C8B-B14F-4D97-AF65-F5344CB8AC3E}">
        <p14:creationId xmlns:p14="http://schemas.microsoft.com/office/powerpoint/2010/main" val="873142549"/>
      </p:ext>
    </p:extLst>
  </p:cSld>
</p:sld>
</file>

<file path=ppt/slides/slide3.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17" name="section-kicker">
            <a:extLst xmlns:a="http://schemas.openxmlformats.org/drawingml/2006/main">
              <a:ext uri="{FF2B5EF4-FFF2-40B4-BE49-F238E27FC236}">
                <a16:creationId xmlns:a16="http://schemas.microsoft.com/office/drawing/2014/main" id="{55C14A53-6792-43BD-8D0A-49AD3CD41C1F}"/>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DF725B"/>
                </a:solidFill>
                <a:latin typeface="Arial"/>
                <a:ea typeface="Arial"/>
                <a:cs typeface="Arial"/>
              </a:defRPr>
            </a:pPr>
            <a:r>
              <a:rPr sz="1200" b="1">
                <a:solidFill>
                  <a:srgbClr val="DF725B"/>
                </a:solidFill>
                <a:latin typeface="Arial"/>
                <a:ea typeface="Arial"/>
                <a:cs typeface="Arial"/>
              </a:rPr>
              <a:t>HOMEPAGE STRATEGY</a:t>
            </a:r>
          </a:p>
        </p:txBody>
      </p:sp>
      <p:sp>
        <p:nvSpPr>
          <p:cNvPr id="2" name="">
            <a:extLst xmlns:a="http://schemas.openxmlformats.org/drawingml/2006/main">
              <a:ext uri="{FF2B5EF4-FFF2-40B4-BE49-F238E27FC236}">
                <a16:creationId xmlns:a16="http://schemas.microsoft.com/office/drawing/2014/main" id="{F007BD54-AEE8-456D-9029-55CF1EDD44ED}"/>
              </a:ext>
            </a:extLst>
          </p:cNvPr>
          <p:cNvSpPr>
            <a:spLocks xmlns:a="http://schemas.openxmlformats.org/drawingml/2006/main" noGrp="1"/>
          </p:cNvSpPr>
          <p:nvPr/>
        </p:nvSpPr>
        <p:spPr>
          <a:xfrm xmlns:a="http://schemas.openxmlformats.org/drawingml/2006/main">
            <a:off x="609600" y="781050"/>
            <a:ext cx="876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2B2621"/>
                </a:solidFill>
                <a:latin typeface="Georgia"/>
                <a:ea typeface="Georgia"/>
                <a:cs typeface="Georgia"/>
              </a:defRPr>
            </a:pPr>
            <a:r>
              <a:rPr sz="2925" b="1">
                <a:solidFill>
                  <a:srgbClr val="2B2621"/>
                </a:solidFill>
                <a:latin typeface="Georgia"/>
                <a:ea typeface="Georgia"/>
                <a:cs typeface="Georgia"/>
              </a:rPr>
              <a:t>The homepage explains the product before the user signs in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5d63f72a67142c7"/>
          <a:srcRect xmlns:a="http://schemas.openxmlformats.org/drawingml/2006/main" l="3925" t="0" r="3925" b="0"/>
          <a:stretch xmlns:a="http://schemas.openxmlformats.org/drawingml/2006/main">
            <a:fillRect l="0" t="0" r="0" b="0"/>
          </a:stretch>
        </p:blipFill>
        <p:spPr>
          <a:xfrm xmlns:a="http://schemas.openxmlformats.org/drawingml/2006/main">
            <a:off x="609600" y="1790700"/>
            <a:ext cx="6705600" cy="4095750"/>
          </a:xfrm>
          <a:prstGeom xmlns:a="http://schemas.openxmlformats.org/drawingml/2006/main" prst="roundRect">
            <a:avLst>
              <a:gd name="adj" fmla="val 5116"/>
            </a:avLst>
          </a:prstGeom>
        </p:spPr>
      </p:pic>
      <p:sp>
        <p:nvSpPr>
          <p:cNvPr id="4" name="">
            <a:extLst xmlns:a="http://schemas.openxmlformats.org/drawingml/2006/main">
              <a:ext uri="{FF2B5EF4-FFF2-40B4-BE49-F238E27FC236}">
                <a16:creationId xmlns:a16="http://schemas.microsoft.com/office/drawing/2014/main" id="{F189BFD7-2836-48E5-B4E1-40D2E69E4BAF}"/>
              </a:ext>
            </a:extLst>
          </p:cNvPr>
          <p:cNvSpPr>
            <a:spLocks xmlns:a="http://schemas.openxmlformats.org/drawingml/2006/main" noGrp="1"/>
          </p:cNvSpPr>
          <p:nvPr/>
        </p:nvSpPr>
        <p:spPr>
          <a:xfrm xmlns:a="http://schemas.openxmlformats.org/drawingml/2006/main">
            <a:off x="7848600" y="19240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DF725B"/>
                </a:solidFill>
                <a:latin typeface="Arial"/>
                <a:ea typeface="Arial"/>
                <a:cs typeface="Arial"/>
              </a:defRPr>
            </a:pPr>
            <a:r>
              <a:rPr sz="1800" b="1">
                <a:solidFill>
                  <a:srgbClr val="DF72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C5308FB-BA2E-4594-BE23-9D645D796681}"/>
              </a:ext>
            </a:extLst>
          </p:cNvPr>
          <p:cNvSpPr>
            <a:spLocks xmlns:a="http://schemas.openxmlformats.org/drawingml/2006/main" noGrp="1"/>
          </p:cNvSpPr>
          <p:nvPr/>
        </p:nvSpPr>
        <p:spPr>
          <a:xfrm xmlns:a="http://schemas.openxmlformats.org/drawingml/2006/main">
            <a:off x="8439150" y="19240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2B2621"/>
                </a:solidFill>
                <a:latin typeface="Arial"/>
                <a:ea typeface="Arial"/>
                <a:cs typeface="Arial"/>
              </a:defRPr>
            </a:pPr>
            <a:r>
              <a:rPr sz="1800" b="1">
                <a:solidFill>
                  <a:srgbClr val="2B2621"/>
                </a:solidFill>
                <a:latin typeface="Arial"/>
                <a:ea typeface="Arial"/>
                <a:cs typeface="Arial"/>
              </a:rPr>
              <a:t>Clear promise</a:t>
            </a:r>
          </a:p>
        </p:txBody>
      </p:sp>
      <p:sp>
        <p:nvSpPr>
          <p:cNvPr id="6" name="">
            <a:extLst xmlns:a="http://schemas.openxmlformats.org/drawingml/2006/main">
              <a:ext uri="{FF2B5EF4-FFF2-40B4-BE49-F238E27FC236}">
                <a16:creationId xmlns:a16="http://schemas.microsoft.com/office/drawing/2014/main" id="{A58390D3-4049-4B48-943A-5A0CFAFB64F4}"/>
              </a:ext>
            </a:extLst>
          </p:cNvPr>
          <p:cNvSpPr>
            <a:spLocks xmlns:a="http://schemas.openxmlformats.org/drawingml/2006/main" noGrp="1"/>
          </p:cNvSpPr>
          <p:nvPr/>
        </p:nvSpPr>
        <p:spPr>
          <a:xfrm xmlns:a="http://schemas.openxmlformats.org/drawingml/2006/main">
            <a:off x="7848600" y="23241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F695F"/>
                </a:solidFill>
                <a:latin typeface="Arial"/>
                <a:ea typeface="Arial"/>
                <a:cs typeface="Arial"/>
              </a:defRPr>
            </a:pPr>
            <a:r>
              <a:rPr sz="1425" b="0">
                <a:solidFill>
                  <a:srgbClr val="6F695F"/>
                </a:solidFill>
                <a:latin typeface="Arial"/>
                <a:ea typeface="Arial"/>
                <a:cs typeface="Arial"/>
              </a:rPr>
              <a:t>The hero states the outcome: plan care, organize records, and preserve memories.</a:t>
            </a:r>
          </a:p>
        </p:txBody>
      </p:sp>
      <p:sp>
        <p:nvSpPr>
          <p:cNvPr id="7" name="">
            <a:extLst xmlns:a="http://schemas.openxmlformats.org/drawingml/2006/main">
              <a:ext uri="{FF2B5EF4-FFF2-40B4-BE49-F238E27FC236}">
                <a16:creationId xmlns:a16="http://schemas.microsoft.com/office/drawing/2014/main" id="{D2F68626-CA00-4184-84EC-BD2FC067C2A9}"/>
              </a:ext>
            </a:extLst>
          </p:cNvPr>
          <p:cNvSpPr>
            <a:spLocks xmlns:a="http://schemas.openxmlformats.org/drawingml/2006/main" noGrp="1"/>
          </p:cNvSpPr>
          <p:nvPr/>
        </p:nvSpPr>
        <p:spPr>
          <a:xfrm xmlns:a="http://schemas.openxmlformats.org/drawingml/2006/main">
            <a:off x="7848600" y="3200400"/>
            <a:ext cx="3390900" cy="19050"/>
          </a:xfrm>
          <a:prstGeom xmlns:a="http://schemas.openxmlformats.org/drawingml/2006/main" prst="rect">
            <a:avLst/>
          </a:prstGeom>
          <a:solidFill xmlns:a="http://schemas.openxmlformats.org/drawingml/2006/main">
            <a:srgbClr val="D9D1C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D920FBF-BF16-4913-A3E6-ABDBAB4CC486}"/>
              </a:ext>
            </a:extLst>
          </p:cNvPr>
          <p:cNvSpPr>
            <a:spLocks xmlns:a="http://schemas.openxmlformats.org/drawingml/2006/main" noGrp="1"/>
          </p:cNvSpPr>
          <p:nvPr/>
        </p:nvSpPr>
        <p:spPr>
          <a:xfrm xmlns:a="http://schemas.openxmlformats.org/drawingml/2006/main">
            <a:off x="7848600" y="34099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DF725B"/>
                </a:solidFill>
                <a:latin typeface="Arial"/>
                <a:ea typeface="Arial"/>
                <a:cs typeface="Arial"/>
              </a:defRPr>
            </a:pPr>
            <a:r>
              <a:rPr sz="1800" b="1">
                <a:solidFill>
                  <a:srgbClr val="DF725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9CEAA196-96CD-42DA-960D-59F1956431C4}"/>
              </a:ext>
            </a:extLst>
          </p:cNvPr>
          <p:cNvSpPr>
            <a:spLocks xmlns:a="http://schemas.openxmlformats.org/drawingml/2006/main" noGrp="1"/>
          </p:cNvSpPr>
          <p:nvPr/>
        </p:nvSpPr>
        <p:spPr>
          <a:xfrm xmlns:a="http://schemas.openxmlformats.org/drawingml/2006/main">
            <a:off x="8439150" y="3409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2B2621"/>
                </a:solidFill>
                <a:latin typeface="Arial"/>
                <a:ea typeface="Arial"/>
                <a:cs typeface="Arial"/>
              </a:defRPr>
            </a:pPr>
            <a:r>
              <a:rPr sz="1800" b="1">
                <a:solidFill>
                  <a:srgbClr val="2B2621"/>
                </a:solidFill>
                <a:latin typeface="Arial"/>
                <a:ea typeface="Arial"/>
                <a:cs typeface="Arial"/>
              </a:rPr>
              <a:t>Guided story</a:t>
            </a:r>
          </a:p>
        </p:txBody>
      </p:sp>
      <p:sp>
        <p:nvSpPr>
          <p:cNvPr id="10" name="">
            <a:extLst xmlns:a="http://schemas.openxmlformats.org/drawingml/2006/main">
              <a:ext uri="{FF2B5EF4-FFF2-40B4-BE49-F238E27FC236}">
                <a16:creationId xmlns:a16="http://schemas.microsoft.com/office/drawing/2014/main" id="{25C844B4-06F9-4586-BD95-C043D3C09312}"/>
              </a:ext>
            </a:extLst>
          </p:cNvPr>
          <p:cNvSpPr>
            <a:spLocks xmlns:a="http://schemas.openxmlformats.org/drawingml/2006/main" noGrp="1"/>
          </p:cNvSpPr>
          <p:nvPr/>
        </p:nvSpPr>
        <p:spPr>
          <a:xfrm xmlns:a="http://schemas.openxmlformats.org/drawingml/2006/main">
            <a:off x="7848600" y="38100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F695F"/>
                </a:solidFill>
                <a:latin typeface="Arial"/>
                <a:ea typeface="Arial"/>
                <a:cs typeface="Arial"/>
              </a:defRPr>
            </a:pPr>
            <a:r>
              <a:rPr sz="1425" b="0">
                <a:solidFill>
                  <a:srgbClr val="6F695F"/>
                </a:solidFill>
                <a:latin typeface="Arial"/>
                <a:ea typeface="Arial"/>
                <a:cs typeface="Arial"/>
              </a:rPr>
              <a:t>Why PawRise → Features → How it works gives visitors a simple reading path.</a:t>
            </a:r>
          </a:p>
        </p:txBody>
      </p:sp>
      <p:sp>
        <p:nvSpPr>
          <p:cNvPr id="11" name="">
            <a:extLst xmlns:a="http://schemas.openxmlformats.org/drawingml/2006/main">
              <a:ext uri="{FF2B5EF4-FFF2-40B4-BE49-F238E27FC236}">
                <a16:creationId xmlns:a16="http://schemas.microsoft.com/office/drawing/2014/main" id="{5070CDCF-41C3-457B-92F0-5F18CCFAA716}"/>
              </a:ext>
            </a:extLst>
          </p:cNvPr>
          <p:cNvSpPr>
            <a:spLocks xmlns:a="http://schemas.openxmlformats.org/drawingml/2006/main" noGrp="1"/>
          </p:cNvSpPr>
          <p:nvPr/>
        </p:nvSpPr>
        <p:spPr>
          <a:xfrm xmlns:a="http://schemas.openxmlformats.org/drawingml/2006/main">
            <a:off x="7848600" y="4686300"/>
            <a:ext cx="3390900" cy="19050"/>
          </a:xfrm>
          <a:prstGeom xmlns:a="http://schemas.openxmlformats.org/drawingml/2006/main" prst="rect">
            <a:avLst/>
          </a:prstGeom>
          <a:solidFill xmlns:a="http://schemas.openxmlformats.org/drawingml/2006/main">
            <a:srgbClr val="D9D1C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C794B4E-2A7F-49A3-B2C7-279465A53E9C}"/>
              </a:ext>
            </a:extLst>
          </p:cNvPr>
          <p:cNvSpPr>
            <a:spLocks xmlns:a="http://schemas.openxmlformats.org/drawingml/2006/main" noGrp="1"/>
          </p:cNvSpPr>
          <p:nvPr/>
        </p:nvSpPr>
        <p:spPr>
          <a:xfrm xmlns:a="http://schemas.openxmlformats.org/drawingml/2006/main">
            <a:off x="7848600" y="48958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DF725B"/>
                </a:solidFill>
                <a:latin typeface="Arial"/>
                <a:ea typeface="Arial"/>
                <a:cs typeface="Arial"/>
              </a:defRPr>
            </a:pPr>
            <a:r>
              <a:rPr sz="1800" b="1">
                <a:solidFill>
                  <a:srgbClr val="DF725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A726910-14FF-4F18-8E34-89B9103389BE}"/>
              </a:ext>
            </a:extLst>
          </p:cNvPr>
          <p:cNvSpPr>
            <a:spLocks xmlns:a="http://schemas.openxmlformats.org/drawingml/2006/main" noGrp="1"/>
          </p:cNvSpPr>
          <p:nvPr/>
        </p:nvSpPr>
        <p:spPr>
          <a:xfrm xmlns:a="http://schemas.openxmlformats.org/drawingml/2006/main">
            <a:off x="8439150" y="48958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2B2621"/>
                </a:solidFill>
                <a:latin typeface="Arial"/>
                <a:ea typeface="Arial"/>
                <a:cs typeface="Arial"/>
              </a:defRPr>
            </a:pPr>
            <a:r>
              <a:rPr sz="1800" b="1">
                <a:solidFill>
                  <a:srgbClr val="2B2621"/>
                </a:solidFill>
                <a:latin typeface="Arial"/>
                <a:ea typeface="Arial"/>
                <a:cs typeface="Arial"/>
              </a:rPr>
              <a:t>Action</a:t>
            </a:r>
          </a:p>
        </p:txBody>
      </p:sp>
      <p:sp>
        <p:nvSpPr>
          <p:cNvPr id="14" name="">
            <a:extLst xmlns:a="http://schemas.openxmlformats.org/drawingml/2006/main">
              <a:ext uri="{FF2B5EF4-FFF2-40B4-BE49-F238E27FC236}">
                <a16:creationId xmlns:a16="http://schemas.microsoft.com/office/drawing/2014/main" id="{AD5AB24F-D91D-4053-B142-18911A4C5114}"/>
              </a:ext>
            </a:extLst>
          </p:cNvPr>
          <p:cNvSpPr>
            <a:spLocks xmlns:a="http://schemas.openxmlformats.org/drawingml/2006/main" noGrp="1"/>
          </p:cNvSpPr>
          <p:nvPr/>
        </p:nvSpPr>
        <p:spPr>
          <a:xfrm xmlns:a="http://schemas.openxmlformats.org/drawingml/2006/main">
            <a:off x="7848600" y="5295900"/>
            <a:ext cx="3390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F695F"/>
                </a:solidFill>
                <a:latin typeface="Arial"/>
                <a:ea typeface="Arial"/>
                <a:cs typeface="Arial"/>
              </a:defRPr>
            </a:pPr>
            <a:r>
              <a:rPr sz="1425" b="0">
                <a:solidFill>
                  <a:srgbClr val="6F695F"/>
                </a:solidFill>
                <a:latin typeface="Arial"/>
                <a:ea typeface="Arial"/>
                <a:cs typeface="Arial"/>
              </a:rPr>
              <a:t>Log in and Get started convert the story into the product experience.</a:t>
            </a:r>
          </a:p>
        </p:txBody>
      </p:sp>
      <p:sp>
        <p:nvSpPr>
          <p:cNvPr id="15" name="">
            <a:extLst xmlns:a="http://schemas.openxmlformats.org/drawingml/2006/main">
              <a:ext uri="{FF2B5EF4-FFF2-40B4-BE49-F238E27FC236}">
                <a16:creationId xmlns:a16="http://schemas.microsoft.com/office/drawing/2014/main" id="{80357955-0144-4E75-AD53-551EC3FCC845}"/>
              </a:ext>
            </a:extLst>
          </p:cNvPr>
          <p:cNvSpPr>
            <a:spLocks xmlns:a="http://schemas.openxmlformats.org/drawingml/2006/main" noGrp="1"/>
          </p:cNvSpPr>
          <p:nvPr/>
        </p:nvSpPr>
        <p:spPr>
          <a:xfrm xmlns:a="http://schemas.openxmlformats.org/drawingml/2006/main">
            <a:off x="609600" y="64865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6F695F"/>
                </a:solidFill>
                <a:latin typeface="Arial"/>
                <a:ea typeface="Arial"/>
                <a:cs typeface="Arial"/>
              </a:defRPr>
            </a:pPr>
            <a:r>
              <a:rPr sz="825" b="0">
                <a:solidFill>
                  <a:srgbClr val="6F695F"/>
                </a:solidFill>
                <a:latin typeface="Arial"/>
                <a:ea typeface="Arial"/>
                <a:cs typeface="Arial"/>
              </a:rPr>
              <a:t>PAWRISE  •  MILESTONE 4</a:t>
            </a:r>
          </a:p>
        </p:txBody>
      </p:sp>
      <p:sp>
        <p:nvSpPr>
          <p:cNvPr id="16" name="">
            <a:extLst xmlns:a="http://schemas.openxmlformats.org/drawingml/2006/main">
              <a:ext uri="{FF2B5EF4-FFF2-40B4-BE49-F238E27FC236}">
                <a16:creationId xmlns:a16="http://schemas.microsoft.com/office/drawing/2014/main" id="{675C1000-9472-425F-9FD3-165CCE66C26A}"/>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6F695F"/>
                </a:solidFill>
                <a:latin typeface="Arial"/>
                <a:ea typeface="Arial"/>
                <a:cs typeface="Arial"/>
              </a:defRPr>
            </a:pPr>
            <a:r>
              <a:rPr sz="825" b="0">
                <a:solidFill>
                  <a:srgbClr val="6F695F"/>
                </a:solidFill>
                <a:latin typeface="Arial"/>
                <a:ea typeface="Arial"/>
                <a:cs typeface="Arial"/>
              </a:rPr>
              <a:t>3</a:t>
            </a:r>
          </a:p>
        </p:txBody>
      </p:sp>
    </p:spTree>
    <p:extLst>
      <p:ext uri="{BB962C8B-B14F-4D97-AF65-F5344CB8AC3E}">
        <p14:creationId xmlns:p14="http://schemas.microsoft.com/office/powerpoint/2010/main" val="35718858"/>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1" name="section-kicker">
            <a:extLst xmlns:a="http://schemas.openxmlformats.org/drawingml/2006/main">
              <a:ext uri="{FF2B5EF4-FFF2-40B4-BE49-F238E27FC236}">
                <a16:creationId xmlns:a16="http://schemas.microsoft.com/office/drawing/2014/main" id="{DFB3D159-B31F-4E19-BA50-EFC50FAE4045}"/>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587257"/>
                </a:solidFill>
                <a:latin typeface="Arial"/>
                <a:ea typeface="Arial"/>
                <a:cs typeface="Arial"/>
              </a:defRPr>
            </a:pPr>
            <a:r>
              <a:rPr sz="1200" b="1">
                <a:solidFill>
                  <a:srgbClr val="587257"/>
                </a:solidFill>
                <a:latin typeface="Arial"/>
                <a:ea typeface="Arial"/>
                <a:cs typeface="Arial"/>
              </a:rPr>
              <a:t>HIGH-LEVEL ARCHITECTURE</a:t>
            </a:r>
          </a:p>
        </p:txBody>
      </p:sp>
      <p:sp>
        <p:nvSpPr>
          <p:cNvPr id="2" name="">
            <a:extLst xmlns:a="http://schemas.openxmlformats.org/drawingml/2006/main">
              <a:ext uri="{FF2B5EF4-FFF2-40B4-BE49-F238E27FC236}">
                <a16:creationId xmlns:a16="http://schemas.microsoft.com/office/drawing/2014/main" id="{E589A059-50BF-4704-9580-9D706E017764}"/>
              </a:ext>
            </a:extLst>
          </p:cNvPr>
          <p:cNvSpPr>
            <a:spLocks xmlns:a="http://schemas.openxmlformats.org/drawingml/2006/main" noGrp="1"/>
          </p:cNvSpPr>
          <p:nvPr/>
        </p:nvSpPr>
        <p:spPr>
          <a:xfrm xmlns:a="http://schemas.openxmlformats.org/drawingml/2006/main">
            <a:off x="609600" y="7810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775" b="1">
                <a:solidFill>
                  <a:srgbClr val="2B2621"/>
                </a:solidFill>
                <a:latin typeface="Georgia"/>
                <a:ea typeface="Georgia"/>
                <a:cs typeface="Georgia"/>
              </a:defRPr>
            </a:pPr>
            <a:r>
              <a:rPr sz="2775" b="1">
                <a:solidFill>
                  <a:srgbClr val="2B2621"/>
                </a:solidFill>
                <a:latin typeface="Georgia"/>
                <a:ea typeface="Georgia"/>
                <a:cs typeface="Georgia"/>
              </a:rPr>
              <a:t>React connects to a secure Flask API</a:t>
            </a:r>
          </a:p>
        </p:txBody>
      </p:sp>
      <p:sp>
        <p:nvSpPr>
          <p:cNvPr id="3" name="">
            <a:extLst xmlns:a="http://schemas.openxmlformats.org/drawingml/2006/main">
              <a:ext uri="{FF2B5EF4-FFF2-40B4-BE49-F238E27FC236}">
                <a16:creationId xmlns:a16="http://schemas.microsoft.com/office/drawing/2014/main" id="{1DA0B03E-4295-4E4B-9B63-4FBA34CFCBB7}"/>
              </a:ext>
            </a:extLst>
          </p:cNvPr>
          <p:cNvSpPr>
            <a:spLocks xmlns:a="http://schemas.openxmlformats.org/drawingml/2006/main" noGrp="1"/>
          </p:cNvSpPr>
          <p:nvPr/>
        </p:nvSpPr>
        <p:spPr>
          <a:xfrm xmlns:a="http://schemas.openxmlformats.org/drawingml/2006/main">
            <a:off x="2857500" y="2543175"/>
            <a:ext cx="685800" cy="342900"/>
          </a:xfrm>
          <a:prstGeom xmlns:a="http://schemas.openxmlformats.org/drawingml/2006/main" prst="rightArrow">
            <a:avLst/>
          </a:prstGeom>
          <a:solidFill xmlns:a="http://schemas.openxmlformats.org/drawingml/2006/main">
            <a:srgbClr val="DF72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40BF41-D5DF-42F9-B6EB-B3CB3A7DA8EF}"/>
              </a:ext>
            </a:extLst>
          </p:cNvPr>
          <p:cNvSpPr>
            <a:spLocks xmlns:a="http://schemas.openxmlformats.org/drawingml/2006/main" noGrp="1"/>
          </p:cNvSpPr>
          <p:nvPr/>
        </p:nvSpPr>
        <p:spPr>
          <a:xfrm xmlns:a="http://schemas.openxmlformats.org/drawingml/2006/main">
            <a:off x="5886450" y="2543175"/>
            <a:ext cx="685800" cy="342900"/>
          </a:xfrm>
          <a:prstGeom xmlns:a="http://schemas.openxmlformats.org/drawingml/2006/main" prst="rightArrow">
            <a:avLst/>
          </a:prstGeom>
          <a:solidFill xmlns:a="http://schemas.openxmlformats.org/drawingml/2006/main">
            <a:srgbClr val="DF7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1C21FC-7903-4414-9678-B2A0AD979F54}"/>
              </a:ext>
            </a:extLst>
          </p:cNvPr>
          <p:cNvSpPr>
            <a:spLocks xmlns:a="http://schemas.openxmlformats.org/drawingml/2006/main" noGrp="1"/>
          </p:cNvSpPr>
          <p:nvPr/>
        </p:nvSpPr>
        <p:spPr>
          <a:xfrm xmlns:a="http://schemas.openxmlformats.org/drawingml/2006/main">
            <a:off x="8915400" y="2543175"/>
            <a:ext cx="685800" cy="342900"/>
          </a:xfrm>
          <a:prstGeom xmlns:a="http://schemas.openxmlformats.org/drawingml/2006/main" prst="rightArrow">
            <a:avLst/>
          </a:prstGeom>
          <a:solidFill xmlns:a="http://schemas.openxmlformats.org/drawingml/2006/main">
            <a:srgbClr val="DF725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A71AC70-23C6-42FF-8466-3DA67915C3C6}"/>
              </a:ext>
            </a:extLst>
          </p:cNvPr>
          <p:cNvSpPr>
            <a:spLocks xmlns:a="http://schemas.openxmlformats.org/drawingml/2006/main" noGrp="1"/>
          </p:cNvSpPr>
          <p:nvPr/>
        </p:nvSpPr>
        <p:spPr>
          <a:xfrm xmlns:a="http://schemas.openxmlformats.org/drawingml/2006/main">
            <a:off x="6705600" y="3914775"/>
            <a:ext cx="323850" cy="628650"/>
          </a:xfrm>
          <a:prstGeom xmlns:a="http://schemas.openxmlformats.org/drawingml/2006/main" prst="downArrow">
            <a:avLst/>
          </a:prstGeom>
          <a:solidFill xmlns:a="http://schemas.openxmlformats.org/drawingml/2006/main">
            <a:srgbClr val="58725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D524868-3D75-481B-A100-9B3F751933B2}"/>
              </a:ext>
            </a:extLst>
          </p:cNvPr>
          <p:cNvSpPr>
            <a:spLocks xmlns:a="http://schemas.openxmlformats.org/drawingml/2006/main" noGrp="1"/>
          </p:cNvSpPr>
          <p:nvPr/>
        </p:nvSpPr>
        <p:spPr>
          <a:xfrm xmlns:a="http://schemas.openxmlformats.org/drawingml/2006/main">
            <a:off x="609600" y="1952625"/>
            <a:ext cx="2247900" cy="1905000"/>
          </a:xfrm>
          <a:prstGeom xmlns:a="http://schemas.openxmlformats.org/drawingml/2006/main" prst="roundRect">
            <a:avLst>
              <a:gd name="adj" fmla="val 10000"/>
            </a:avLst>
          </a:prstGeom>
          <a:solidFill xmlns:a="http://schemas.openxmlformats.org/drawingml/2006/main">
            <a:srgbClr val="E6EEE3"/>
          </a:solidFill>
          <a:ln xmlns:a="http://schemas.openxmlformats.org/drawingml/2006/main" w="9525">
            <a:solidFill>
              <a:srgbClr val="D9D1C6"/>
            </a:solidFill>
            <a:prstDash val="solid"/>
          </a:ln>
        </p:spPr>
      </p:sp>
      <p:sp>
        <p:nvSpPr>
          <p:cNvPr id="8" name="">
            <a:extLst xmlns:a="http://schemas.openxmlformats.org/drawingml/2006/main">
              <a:ext uri="{FF2B5EF4-FFF2-40B4-BE49-F238E27FC236}">
                <a16:creationId xmlns:a16="http://schemas.microsoft.com/office/drawing/2014/main" id="{B0AF5B84-19EE-43B1-AA6E-4F4E82A623B3}"/>
              </a:ext>
            </a:extLst>
          </p:cNvPr>
          <p:cNvSpPr>
            <a:spLocks xmlns:a="http://schemas.openxmlformats.org/drawingml/2006/main" noGrp="1"/>
          </p:cNvSpPr>
          <p:nvPr/>
        </p:nvSpPr>
        <p:spPr>
          <a:xfrm xmlns:a="http://schemas.openxmlformats.org/drawingml/2006/main">
            <a:off x="838200" y="21907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USER</a:t>
            </a:r>
          </a:p>
        </p:txBody>
      </p:sp>
      <p:sp>
        <p:nvSpPr>
          <p:cNvPr id="9" name="">
            <a:extLst xmlns:a="http://schemas.openxmlformats.org/drawingml/2006/main">
              <a:ext uri="{FF2B5EF4-FFF2-40B4-BE49-F238E27FC236}">
                <a16:creationId xmlns:a16="http://schemas.microsoft.com/office/drawing/2014/main" id="{0AD0AA67-1EEF-4332-9A72-0499532FCA66}"/>
              </a:ext>
            </a:extLst>
          </p:cNvPr>
          <p:cNvSpPr>
            <a:spLocks xmlns:a="http://schemas.openxmlformats.org/drawingml/2006/main" noGrp="1"/>
          </p:cNvSpPr>
          <p:nvPr/>
        </p:nvSpPr>
        <p:spPr>
          <a:xfrm xmlns:a="http://schemas.openxmlformats.org/drawingml/2006/main">
            <a:off x="838200" y="25717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Browser</a:t>
            </a:r>
          </a:p>
        </p:txBody>
      </p:sp>
      <p:sp>
        <p:nvSpPr>
          <p:cNvPr id="10" name="">
            <a:extLst xmlns:a="http://schemas.openxmlformats.org/drawingml/2006/main">
              <a:ext uri="{FF2B5EF4-FFF2-40B4-BE49-F238E27FC236}">
                <a16:creationId xmlns:a16="http://schemas.microsoft.com/office/drawing/2014/main" id="{8AF1F6F2-30DC-4830-82FC-84BA610A8D28}"/>
              </a:ext>
            </a:extLst>
          </p:cNvPr>
          <p:cNvSpPr>
            <a:spLocks xmlns:a="http://schemas.openxmlformats.org/drawingml/2006/main" noGrp="1"/>
          </p:cNvSpPr>
          <p:nvPr/>
        </p:nvSpPr>
        <p:spPr>
          <a:xfrm xmlns:a="http://schemas.openxmlformats.org/drawingml/2006/main">
            <a:off x="838200" y="320040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Homepage + app UI</a:t>
            </a:r>
          </a:p>
        </p:txBody>
      </p:sp>
      <p:sp>
        <p:nvSpPr>
          <p:cNvPr id="11" name="">
            <a:extLst xmlns:a="http://schemas.openxmlformats.org/drawingml/2006/main">
              <a:ext uri="{FF2B5EF4-FFF2-40B4-BE49-F238E27FC236}">
                <a16:creationId xmlns:a16="http://schemas.microsoft.com/office/drawing/2014/main" id="{803F7AD0-0886-4A63-A177-4290B0173387}"/>
              </a:ext>
            </a:extLst>
          </p:cNvPr>
          <p:cNvSpPr>
            <a:spLocks xmlns:a="http://schemas.openxmlformats.org/drawingml/2006/main" noGrp="1"/>
          </p:cNvSpPr>
          <p:nvPr/>
        </p:nvSpPr>
        <p:spPr>
          <a:xfrm xmlns:a="http://schemas.openxmlformats.org/drawingml/2006/main">
            <a:off x="3543300" y="1952625"/>
            <a:ext cx="2343150" cy="1905000"/>
          </a:xfrm>
          <a:prstGeom xmlns:a="http://schemas.openxmlformats.org/drawingml/2006/main" prst="roundRect">
            <a:avLst>
              <a:gd name="adj" fmla="val 10000"/>
            </a:avLst>
          </a:prstGeom>
          <a:solidFill xmlns:a="http://schemas.openxmlformats.org/drawingml/2006/main">
            <a:srgbClr val="F7E4DE"/>
          </a:solidFill>
          <a:ln xmlns:a="http://schemas.openxmlformats.org/drawingml/2006/main" w="9525">
            <a:solidFill>
              <a:srgbClr val="D9D1C6"/>
            </a:solidFill>
            <a:prstDash val="solid"/>
          </a:ln>
        </p:spPr>
      </p:sp>
      <p:sp>
        <p:nvSpPr>
          <p:cNvPr id="12" name="">
            <a:extLst xmlns:a="http://schemas.openxmlformats.org/drawingml/2006/main">
              <a:ext uri="{FF2B5EF4-FFF2-40B4-BE49-F238E27FC236}">
                <a16:creationId xmlns:a16="http://schemas.microsoft.com/office/drawing/2014/main" id="{95EC6FDA-9381-4BF0-9D1D-05571D7DF4B5}"/>
              </a:ext>
            </a:extLst>
          </p:cNvPr>
          <p:cNvSpPr>
            <a:spLocks xmlns:a="http://schemas.openxmlformats.org/drawingml/2006/main" noGrp="1"/>
          </p:cNvSpPr>
          <p:nvPr/>
        </p:nvSpPr>
        <p:spPr>
          <a:xfrm xmlns:a="http://schemas.openxmlformats.org/drawingml/2006/main">
            <a:off x="3771900" y="21907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FRONTEND</a:t>
            </a:r>
          </a:p>
        </p:txBody>
      </p:sp>
      <p:sp>
        <p:nvSpPr>
          <p:cNvPr id="13" name="">
            <a:extLst xmlns:a="http://schemas.openxmlformats.org/drawingml/2006/main">
              <a:ext uri="{FF2B5EF4-FFF2-40B4-BE49-F238E27FC236}">
                <a16:creationId xmlns:a16="http://schemas.microsoft.com/office/drawing/2014/main" id="{A491879E-5537-4F7F-8E9B-FC6B99759D1C}"/>
              </a:ext>
            </a:extLst>
          </p:cNvPr>
          <p:cNvSpPr>
            <a:spLocks xmlns:a="http://schemas.openxmlformats.org/drawingml/2006/main" noGrp="1"/>
          </p:cNvSpPr>
          <p:nvPr/>
        </p:nvSpPr>
        <p:spPr>
          <a:xfrm xmlns:a="http://schemas.openxmlformats.org/drawingml/2006/main">
            <a:off x="3771900" y="257175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React + Vite</a:t>
            </a:r>
          </a:p>
        </p:txBody>
      </p:sp>
      <p:sp>
        <p:nvSpPr>
          <p:cNvPr id="14" name="">
            <a:extLst xmlns:a="http://schemas.openxmlformats.org/drawingml/2006/main">
              <a:ext uri="{FF2B5EF4-FFF2-40B4-BE49-F238E27FC236}">
                <a16:creationId xmlns:a16="http://schemas.microsoft.com/office/drawing/2014/main" id="{DBB8EB98-98EE-42DC-A544-C696311C1319}"/>
              </a:ext>
            </a:extLst>
          </p:cNvPr>
          <p:cNvSpPr>
            <a:spLocks xmlns:a="http://schemas.openxmlformats.org/drawingml/2006/main" noGrp="1"/>
          </p:cNvSpPr>
          <p:nvPr/>
        </p:nvSpPr>
        <p:spPr>
          <a:xfrm xmlns:a="http://schemas.openxmlformats.org/drawingml/2006/main">
            <a:off x="3771900" y="32004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Responsive interface</a:t>
            </a:r>
          </a:p>
        </p:txBody>
      </p:sp>
      <p:sp>
        <p:nvSpPr>
          <p:cNvPr id="15" name="">
            <a:extLst xmlns:a="http://schemas.openxmlformats.org/drawingml/2006/main">
              <a:ext uri="{FF2B5EF4-FFF2-40B4-BE49-F238E27FC236}">
                <a16:creationId xmlns:a16="http://schemas.microsoft.com/office/drawing/2014/main" id="{919430EA-4C79-4526-91D6-05D3D2A09A72}"/>
              </a:ext>
            </a:extLst>
          </p:cNvPr>
          <p:cNvSpPr>
            <a:spLocks xmlns:a="http://schemas.openxmlformats.org/drawingml/2006/main" noGrp="1"/>
          </p:cNvSpPr>
          <p:nvPr/>
        </p:nvSpPr>
        <p:spPr>
          <a:xfrm xmlns:a="http://schemas.openxmlformats.org/drawingml/2006/main">
            <a:off x="6572250" y="1952625"/>
            <a:ext cx="2343150" cy="1905000"/>
          </a:xfrm>
          <a:prstGeom xmlns:a="http://schemas.openxmlformats.org/drawingml/2006/main" prst="roundRect">
            <a:avLst>
              <a:gd name="adj" fmla="val 10000"/>
            </a:avLst>
          </a:prstGeom>
          <a:solidFill xmlns:a="http://schemas.openxmlformats.org/drawingml/2006/main">
            <a:srgbClr val="E6EEE3"/>
          </a:solidFill>
          <a:ln xmlns:a="http://schemas.openxmlformats.org/drawingml/2006/main" w="9525">
            <a:solidFill>
              <a:srgbClr val="D9D1C6"/>
            </a:solidFill>
            <a:prstDash val="solid"/>
          </a:ln>
        </p:spPr>
      </p:sp>
      <p:sp>
        <p:nvSpPr>
          <p:cNvPr id="16" name="">
            <a:extLst xmlns:a="http://schemas.openxmlformats.org/drawingml/2006/main">
              <a:ext uri="{FF2B5EF4-FFF2-40B4-BE49-F238E27FC236}">
                <a16:creationId xmlns:a16="http://schemas.microsoft.com/office/drawing/2014/main" id="{8C365AD6-2361-4834-8C53-C5D86C7866C8}"/>
              </a:ext>
            </a:extLst>
          </p:cNvPr>
          <p:cNvSpPr>
            <a:spLocks xmlns:a="http://schemas.openxmlformats.org/drawingml/2006/main" noGrp="1"/>
          </p:cNvSpPr>
          <p:nvPr/>
        </p:nvSpPr>
        <p:spPr>
          <a:xfrm xmlns:a="http://schemas.openxmlformats.org/drawingml/2006/main">
            <a:off x="6800850" y="21907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BACKEND</a:t>
            </a:r>
          </a:p>
        </p:txBody>
      </p:sp>
      <p:sp>
        <p:nvSpPr>
          <p:cNvPr id="17" name="">
            <a:extLst xmlns:a="http://schemas.openxmlformats.org/drawingml/2006/main">
              <a:ext uri="{FF2B5EF4-FFF2-40B4-BE49-F238E27FC236}">
                <a16:creationId xmlns:a16="http://schemas.microsoft.com/office/drawing/2014/main" id="{22A28497-18D6-4EB1-B939-3A226BD824D9}"/>
              </a:ext>
            </a:extLst>
          </p:cNvPr>
          <p:cNvSpPr>
            <a:spLocks xmlns:a="http://schemas.openxmlformats.org/drawingml/2006/main" noGrp="1"/>
          </p:cNvSpPr>
          <p:nvPr/>
        </p:nvSpPr>
        <p:spPr>
          <a:xfrm xmlns:a="http://schemas.openxmlformats.org/drawingml/2006/main">
            <a:off x="6800850" y="257175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302"/>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Flask REST API</a:t>
            </a:r>
          </a:p>
        </p:txBody>
      </p:sp>
      <p:sp>
        <p:nvSpPr>
          <p:cNvPr id="18" name="">
            <a:extLst xmlns:a="http://schemas.openxmlformats.org/drawingml/2006/main">
              <a:ext uri="{FF2B5EF4-FFF2-40B4-BE49-F238E27FC236}">
                <a16:creationId xmlns:a16="http://schemas.microsoft.com/office/drawing/2014/main" id="{45A61A09-0C89-47E3-A64B-1BECB5A503D8}"/>
              </a:ext>
            </a:extLst>
          </p:cNvPr>
          <p:cNvSpPr>
            <a:spLocks xmlns:a="http://schemas.openxmlformats.org/drawingml/2006/main" noGrp="1"/>
          </p:cNvSpPr>
          <p:nvPr/>
        </p:nvSpPr>
        <p:spPr>
          <a:xfrm xmlns:a="http://schemas.openxmlformats.org/drawingml/2006/main">
            <a:off x="6800850" y="32004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JWT + business rules</a:t>
            </a:r>
          </a:p>
        </p:txBody>
      </p:sp>
      <p:sp>
        <p:nvSpPr>
          <p:cNvPr id="19" name="">
            <a:extLst xmlns:a="http://schemas.openxmlformats.org/drawingml/2006/main">
              <a:ext uri="{FF2B5EF4-FFF2-40B4-BE49-F238E27FC236}">
                <a16:creationId xmlns:a16="http://schemas.microsoft.com/office/drawing/2014/main" id="{DF2FB476-41B9-46B4-AEE5-0349D3093107}"/>
              </a:ext>
            </a:extLst>
          </p:cNvPr>
          <p:cNvSpPr>
            <a:spLocks xmlns:a="http://schemas.openxmlformats.org/drawingml/2006/main" noGrp="1"/>
          </p:cNvSpPr>
          <p:nvPr/>
        </p:nvSpPr>
        <p:spPr>
          <a:xfrm xmlns:a="http://schemas.openxmlformats.org/drawingml/2006/main">
            <a:off x="9601200" y="1952625"/>
            <a:ext cx="1981200" cy="1905000"/>
          </a:xfrm>
          <a:prstGeom xmlns:a="http://schemas.openxmlformats.org/drawingml/2006/main" prst="roundRect">
            <a:avLst>
              <a:gd name="adj" fmla="val 10000"/>
            </a:avLst>
          </a:prstGeom>
          <a:solidFill xmlns:a="http://schemas.openxmlformats.org/drawingml/2006/main">
            <a:srgbClr val="F7E4DE"/>
          </a:solidFill>
          <a:ln xmlns:a="http://schemas.openxmlformats.org/drawingml/2006/main" w="9525">
            <a:solidFill>
              <a:srgbClr val="D9D1C6"/>
            </a:solidFill>
            <a:prstDash val="solid"/>
          </a:ln>
        </p:spPr>
      </p:sp>
      <p:sp>
        <p:nvSpPr>
          <p:cNvPr id="20" name="">
            <a:extLst xmlns:a="http://schemas.openxmlformats.org/drawingml/2006/main">
              <a:ext uri="{FF2B5EF4-FFF2-40B4-BE49-F238E27FC236}">
                <a16:creationId xmlns:a16="http://schemas.microsoft.com/office/drawing/2014/main" id="{0454CB11-798D-43D6-9C48-529EC520E31C}"/>
              </a:ext>
            </a:extLst>
          </p:cNvPr>
          <p:cNvSpPr>
            <a:spLocks xmlns:a="http://schemas.openxmlformats.org/drawingml/2006/main" noGrp="1"/>
          </p:cNvSpPr>
          <p:nvPr/>
        </p:nvSpPr>
        <p:spPr>
          <a:xfrm xmlns:a="http://schemas.openxmlformats.org/drawingml/2006/main">
            <a:off x="9829800" y="2190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DATA</a:t>
            </a:r>
          </a:p>
        </p:txBody>
      </p:sp>
      <p:sp>
        <p:nvSpPr>
          <p:cNvPr id="21" name="">
            <a:extLst xmlns:a="http://schemas.openxmlformats.org/drawingml/2006/main">
              <a:ext uri="{FF2B5EF4-FFF2-40B4-BE49-F238E27FC236}">
                <a16:creationId xmlns:a16="http://schemas.microsoft.com/office/drawing/2014/main" id="{DB6A8837-6F40-45BD-A49B-9755099D86DC}"/>
              </a:ext>
            </a:extLst>
          </p:cNvPr>
          <p:cNvSpPr>
            <a:spLocks xmlns:a="http://schemas.openxmlformats.org/drawingml/2006/main" noGrp="1"/>
          </p:cNvSpPr>
          <p:nvPr/>
        </p:nvSpPr>
        <p:spPr>
          <a:xfrm xmlns:a="http://schemas.openxmlformats.org/drawingml/2006/main">
            <a:off x="9829800" y="257175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SQLite</a:t>
            </a:r>
          </a:p>
        </p:txBody>
      </p:sp>
      <p:sp>
        <p:nvSpPr>
          <p:cNvPr id="22" name="">
            <a:extLst xmlns:a="http://schemas.openxmlformats.org/drawingml/2006/main">
              <a:ext uri="{FF2B5EF4-FFF2-40B4-BE49-F238E27FC236}">
                <a16:creationId xmlns:a16="http://schemas.microsoft.com/office/drawing/2014/main" id="{8828F981-BF42-46F9-B108-400B64CF4ADA}"/>
              </a:ext>
            </a:extLst>
          </p:cNvPr>
          <p:cNvSpPr>
            <a:spLocks xmlns:a="http://schemas.openxmlformats.org/drawingml/2006/main" noGrp="1"/>
          </p:cNvSpPr>
          <p:nvPr/>
        </p:nvSpPr>
        <p:spPr>
          <a:xfrm xmlns:a="http://schemas.openxmlformats.org/drawingml/2006/main">
            <a:off x="9829800" y="32004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68"/>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SQLAlchemy + files</a:t>
            </a:r>
          </a:p>
        </p:txBody>
      </p:sp>
      <p:sp>
        <p:nvSpPr>
          <p:cNvPr id="23" name="">
            <a:extLst xmlns:a="http://schemas.openxmlformats.org/drawingml/2006/main">
              <a:ext uri="{FF2B5EF4-FFF2-40B4-BE49-F238E27FC236}">
                <a16:creationId xmlns:a16="http://schemas.microsoft.com/office/drawing/2014/main" id="{90EF59D2-1013-4611-9378-FBF07B33B93F}"/>
              </a:ext>
            </a:extLst>
          </p:cNvPr>
          <p:cNvSpPr>
            <a:spLocks xmlns:a="http://schemas.openxmlformats.org/drawingml/2006/main" noGrp="1"/>
          </p:cNvSpPr>
          <p:nvPr/>
        </p:nvSpPr>
        <p:spPr>
          <a:xfrm xmlns:a="http://schemas.openxmlformats.org/drawingml/2006/main">
            <a:off x="3524250" y="1638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ctr">
              <a:defRPr sz="1125" b="1">
                <a:solidFill>
                  <a:srgbClr val="DF725B"/>
                </a:solidFill>
                <a:latin typeface="Arial"/>
                <a:ea typeface="Arial"/>
                <a:cs typeface="Arial"/>
              </a:defRPr>
            </a:pPr>
            <a:r>
              <a:rPr sz="1125" b="1">
                <a:solidFill>
                  <a:srgbClr val="DF725B"/>
                </a:solidFill>
                <a:latin typeface="Arial"/>
                <a:ea typeface="Arial"/>
                <a:cs typeface="Arial"/>
              </a:rPr>
              <a:t>REST API + JWT</a:t>
            </a:r>
          </a:p>
        </p:txBody>
      </p:sp>
      <p:sp>
        <p:nvSpPr>
          <p:cNvPr id="24" name="">
            <a:extLst xmlns:a="http://schemas.openxmlformats.org/drawingml/2006/main">
              <a:ext uri="{FF2B5EF4-FFF2-40B4-BE49-F238E27FC236}">
                <a16:creationId xmlns:a16="http://schemas.microsoft.com/office/drawing/2014/main" id="{FF106B2D-3375-4635-89D4-BABD765739C3}"/>
              </a:ext>
            </a:extLst>
          </p:cNvPr>
          <p:cNvSpPr>
            <a:spLocks xmlns:a="http://schemas.openxmlformats.org/drawingml/2006/main" noGrp="1"/>
          </p:cNvSpPr>
          <p:nvPr/>
        </p:nvSpPr>
        <p:spPr>
          <a:xfrm xmlns:a="http://schemas.openxmlformats.org/drawingml/2006/main">
            <a:off x="9391650" y="16383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ctr">
              <a:defRPr sz="1125" b="1">
                <a:solidFill>
                  <a:srgbClr val="DF725B"/>
                </a:solidFill>
                <a:latin typeface="Arial"/>
                <a:ea typeface="Arial"/>
                <a:cs typeface="Arial"/>
              </a:defRPr>
            </a:pPr>
            <a:r>
              <a:rPr sz="1125" b="1">
                <a:solidFill>
                  <a:srgbClr val="DF725B"/>
                </a:solidFill>
                <a:latin typeface="Arial"/>
                <a:ea typeface="Arial"/>
                <a:cs typeface="Arial"/>
              </a:rPr>
              <a:t>SQLAlchemy</a:t>
            </a:r>
          </a:p>
        </p:txBody>
      </p:sp>
      <p:sp>
        <p:nvSpPr>
          <p:cNvPr id="25" name="">
            <a:extLst xmlns:a="http://schemas.openxmlformats.org/drawingml/2006/main">
              <a:ext uri="{FF2B5EF4-FFF2-40B4-BE49-F238E27FC236}">
                <a16:creationId xmlns:a16="http://schemas.microsoft.com/office/drawing/2014/main" id="{E3EF0849-9F28-4A68-B137-561754A7306B}"/>
              </a:ext>
            </a:extLst>
          </p:cNvPr>
          <p:cNvSpPr>
            <a:spLocks xmlns:a="http://schemas.openxmlformats.org/drawingml/2006/main" noGrp="1"/>
          </p:cNvSpPr>
          <p:nvPr/>
        </p:nvSpPr>
        <p:spPr>
          <a:xfrm xmlns:a="http://schemas.openxmlformats.org/drawingml/2006/main">
            <a:off x="4514850" y="4591050"/>
            <a:ext cx="5143500" cy="1200150"/>
          </a:xfrm>
          <a:prstGeom xmlns:a="http://schemas.openxmlformats.org/drawingml/2006/main" prst="roundRect">
            <a:avLst>
              <a:gd name="adj" fmla="val 14286"/>
            </a:avLst>
          </a:prstGeom>
          <a:solidFill xmlns:a="http://schemas.openxmlformats.org/drawingml/2006/main">
            <a:srgbClr val="FBF7EF"/>
          </a:solidFill>
          <a:ln xmlns:a="http://schemas.openxmlformats.org/drawingml/2006/main" w="9525">
            <a:solidFill>
              <a:srgbClr val="587257"/>
            </a:solidFill>
            <a:prstDash val="solid"/>
          </a:ln>
        </p:spPr>
      </p:sp>
      <p:sp>
        <p:nvSpPr>
          <p:cNvPr id="26" name="">
            <a:extLst xmlns:a="http://schemas.openxmlformats.org/drawingml/2006/main">
              <a:ext uri="{FF2B5EF4-FFF2-40B4-BE49-F238E27FC236}">
                <a16:creationId xmlns:a16="http://schemas.microsoft.com/office/drawing/2014/main" id="{D121410B-098C-472B-8F5A-5495148D48B8}"/>
              </a:ext>
            </a:extLst>
          </p:cNvPr>
          <p:cNvSpPr>
            <a:spLocks xmlns:a="http://schemas.openxmlformats.org/drawingml/2006/main" noGrp="1"/>
          </p:cNvSpPr>
          <p:nvPr/>
        </p:nvSpPr>
        <p:spPr>
          <a:xfrm xmlns:a="http://schemas.openxmlformats.org/drawingml/2006/main">
            <a:off x="4762500" y="47910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587257"/>
                </a:solidFill>
                <a:latin typeface="Arial"/>
                <a:ea typeface="Arial"/>
                <a:cs typeface="Arial"/>
              </a:defRPr>
            </a:pPr>
            <a:r>
              <a:rPr sz="1650" b="1">
                <a:solidFill>
                  <a:srgbClr val="587257"/>
                </a:solidFill>
                <a:latin typeface="Arial"/>
                <a:ea typeface="Arial"/>
                <a:cs typeface="Arial"/>
              </a:rPr>
              <a:t>Medical record service</a:t>
            </a:r>
          </a:p>
        </p:txBody>
      </p:sp>
      <p:sp>
        <p:nvSpPr>
          <p:cNvPr id="27" name="">
            <a:extLst xmlns:a="http://schemas.openxmlformats.org/drawingml/2006/main">
              <a:ext uri="{FF2B5EF4-FFF2-40B4-BE49-F238E27FC236}">
                <a16:creationId xmlns:a16="http://schemas.microsoft.com/office/drawing/2014/main" id="{D51DA7FE-B792-40EA-B188-5858693B0127}"/>
              </a:ext>
            </a:extLst>
          </p:cNvPr>
          <p:cNvSpPr>
            <a:spLocks xmlns:a="http://schemas.openxmlformats.org/drawingml/2006/main" noGrp="1"/>
          </p:cNvSpPr>
          <p:nvPr/>
        </p:nvSpPr>
        <p:spPr>
          <a:xfrm xmlns:a="http://schemas.openxmlformats.org/drawingml/2006/main">
            <a:off x="4762500" y="51816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2B2621"/>
                </a:solidFill>
                <a:latin typeface="Arial"/>
                <a:ea typeface="Arial"/>
                <a:cs typeface="Arial"/>
              </a:defRPr>
            </a:pPr>
            <a:r>
              <a:rPr sz="1275" b="0">
                <a:solidFill>
                  <a:srgbClr val="2B2621"/>
                </a:solidFill>
                <a:latin typeface="Arial"/>
                <a:ea typeface="Arial"/>
                <a:cs typeface="Arial"/>
              </a:rPr>
              <a:t>OpenAI structured extraction  •  local fallback extractor</a:t>
            </a:r>
          </a:p>
        </p:txBody>
      </p:sp>
      <p:sp>
        <p:nvSpPr>
          <p:cNvPr id="28" name="">
            <a:extLst xmlns:a="http://schemas.openxmlformats.org/drawingml/2006/main">
              <a:ext uri="{FF2B5EF4-FFF2-40B4-BE49-F238E27FC236}">
                <a16:creationId xmlns:a16="http://schemas.microsoft.com/office/drawing/2014/main" id="{6A21922C-E15C-4A33-87C9-26DF3AE618F4}"/>
              </a:ext>
            </a:extLst>
          </p:cNvPr>
          <p:cNvSpPr>
            <a:spLocks xmlns:a="http://schemas.openxmlformats.org/drawingml/2006/main" noGrp="1"/>
          </p:cNvSpPr>
          <p:nvPr/>
        </p:nvSpPr>
        <p:spPr>
          <a:xfrm xmlns:a="http://schemas.openxmlformats.org/drawingml/2006/main">
            <a:off x="4762500" y="5467350"/>
            <a:ext cx="4514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0">
                <a:solidFill>
                  <a:srgbClr val="6F695F"/>
                </a:solidFill>
                <a:latin typeface="Arial"/>
                <a:ea typeface="Arial"/>
                <a:cs typeface="Arial"/>
              </a:defRPr>
            </a:pPr>
            <a:r>
              <a:rPr sz="1125" b="0">
                <a:solidFill>
                  <a:srgbClr val="6F695F"/>
                </a:solidFill>
                <a:latin typeface="Arial"/>
                <a:ea typeface="Arial"/>
                <a:cs typeface="Arial"/>
              </a:rPr>
              <a:t>Draft returns to the owner for review before reminders are created.</a:t>
            </a:r>
          </a:p>
        </p:txBody>
      </p:sp>
      <p:sp>
        <p:nvSpPr>
          <p:cNvPr id="29" name="">
            <a:extLst xmlns:a="http://schemas.openxmlformats.org/drawingml/2006/main">
              <a:ext uri="{FF2B5EF4-FFF2-40B4-BE49-F238E27FC236}">
                <a16:creationId xmlns:a16="http://schemas.microsoft.com/office/drawing/2014/main" id="{FBD9BA10-FFF9-4E0D-90D5-8AC4D875AC3F}"/>
              </a:ext>
            </a:extLst>
          </p:cNvPr>
          <p:cNvSpPr>
            <a:spLocks xmlns:a="http://schemas.openxmlformats.org/drawingml/2006/main" noGrp="1"/>
          </p:cNvSpPr>
          <p:nvPr/>
        </p:nvSpPr>
        <p:spPr>
          <a:xfrm xmlns:a="http://schemas.openxmlformats.org/drawingml/2006/main">
            <a:off x="609600" y="64865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6F695F"/>
                </a:solidFill>
                <a:latin typeface="Arial"/>
                <a:ea typeface="Arial"/>
                <a:cs typeface="Arial"/>
              </a:defRPr>
            </a:pPr>
            <a:r>
              <a:rPr sz="825" b="0">
                <a:solidFill>
                  <a:srgbClr val="6F695F"/>
                </a:solidFill>
                <a:latin typeface="Arial"/>
                <a:ea typeface="Arial"/>
                <a:cs typeface="Arial"/>
              </a:rPr>
              <a:t>PAWRISE  •  MILESTONE 4</a:t>
            </a:r>
          </a:p>
        </p:txBody>
      </p:sp>
      <p:sp>
        <p:nvSpPr>
          <p:cNvPr id="30" name="">
            <a:extLst xmlns:a="http://schemas.openxmlformats.org/drawingml/2006/main">
              <a:ext uri="{FF2B5EF4-FFF2-40B4-BE49-F238E27FC236}">
                <a16:creationId xmlns:a16="http://schemas.microsoft.com/office/drawing/2014/main" id="{9CE8BE56-BFD9-48CD-8796-5E70ACD1C880}"/>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6F695F"/>
                </a:solidFill>
                <a:latin typeface="Arial"/>
                <a:ea typeface="Arial"/>
                <a:cs typeface="Arial"/>
              </a:defRPr>
            </a:pPr>
            <a:r>
              <a:rPr sz="825" b="0">
                <a:solidFill>
                  <a:srgbClr val="6F695F"/>
                </a:solidFill>
                <a:latin typeface="Arial"/>
                <a:ea typeface="Arial"/>
                <a:cs typeface="Arial"/>
              </a:rPr>
              <a:t>4</a:t>
            </a:r>
          </a:p>
        </p:txBody>
      </p:sp>
    </p:spTree>
    <p:extLst>
      <p:ext uri="{BB962C8B-B14F-4D97-AF65-F5344CB8AC3E}">
        <p14:creationId xmlns:p14="http://schemas.microsoft.com/office/powerpoint/2010/main" val="333216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2026-08-10T17:18:46.2020000Z</dcterms:created>
  <dcterms:modified xsi:type="dcterms:W3CDTF">2026-08-10T17:18:46.2030000Z</dcterms:modified>
</coreProperties>
</file>