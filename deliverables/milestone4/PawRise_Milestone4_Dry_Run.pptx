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6c4d8bd7a04058" /><Relationship Type="http://schemas.openxmlformats.org/officeDocument/2006/relationships/extended-properties" Target="/docProps/app.xml" Id="R77e69f85e21943d7" /><Relationship Type="http://schemas.openxmlformats.org/officeDocument/2006/relationships/officeDocument" Target="/ppt/presentation.xml" Id="Rb5bf457b5f554d0a" /></Relationships>
</file>

<file path=ppt/presentation.xml><?xml version="1.0" encoding="utf-8"?>
<p:presentation xmlns:p="http://schemas.openxmlformats.org/presentationml/2006/main">
  <p:sldMasterIdLst>
    <p:sldMasterId xmlns:r="http://schemas.openxmlformats.org/officeDocument/2006/relationships" id="2147483648" r:id="Rfbe0c47e15044bd5"/>
  </p:sldMasterIdLst>
  <p:notesMasterIdLst>
    <p:notesMasterId xmlns:r="http://schemas.openxmlformats.org/officeDocument/2006/relationships" r:id="R65f542dae16a4916"/>
  </p:notesMasterIdLst>
  <p:sldIdLst>
    <p:sldId xmlns:r="http://schemas.openxmlformats.org/officeDocument/2006/relationships" id="256" r:id="Rd00c19a7d1a04134"/>
    <p:sldId xmlns:r="http://schemas.openxmlformats.org/officeDocument/2006/relationships" id="257" r:id="Rac4b2162b3f64cba"/>
    <p:sldId xmlns:r="http://schemas.openxmlformats.org/officeDocument/2006/relationships" id="258" r:id="R2b525cf873f048cd"/>
    <p:sldId xmlns:r="http://schemas.openxmlformats.org/officeDocument/2006/relationships" id="259" r:id="Re65f3da8dfc24348"/>
    <p:sldId xmlns:r="http://schemas.openxmlformats.org/officeDocument/2006/relationships" id="260" r:id="R06a61831b0a5430e"/>
    <p:sldId xmlns:r="http://schemas.openxmlformats.org/officeDocument/2006/relationships" id="261" r:id="R68c77017102042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6dec2d0fbc422f" /><Relationship Type="http://schemas.openxmlformats.org/officeDocument/2006/relationships/slideMaster" Target="/ppt/slideMasters/slideMaster1.xml" Id="Rfbe0c47e15044bd5" /><Relationship Type="http://schemas.openxmlformats.org/officeDocument/2006/relationships/notesMaster" Target="/ppt/notesMasters/notesMaster1.xml" Id="R65f542dae16a4916" /><Relationship Type="http://schemas.openxmlformats.org/officeDocument/2006/relationships/presProps" Target="/ppt/presProps.xml" Id="R6b029c98a96940e9" /><Relationship Type="http://schemas.openxmlformats.org/officeDocument/2006/relationships/tableStyles" Target="/ppt/tableStyles.xml" Id="R8f645a30ff9a46a2" /><Relationship Type="http://schemas.openxmlformats.org/officeDocument/2006/relationships/slide" Target="/ppt/slides/slide1.xml" Id="Rd00c19a7d1a04134" /><Relationship Type="http://schemas.openxmlformats.org/officeDocument/2006/relationships/slide" Target="/ppt/slides/slide2.xml" Id="Rac4b2162b3f64cba" /><Relationship Type="http://schemas.openxmlformats.org/officeDocument/2006/relationships/slide" Target="/ppt/slides/slide3.xml" Id="R2b525cf873f048cd" /><Relationship Type="http://schemas.openxmlformats.org/officeDocument/2006/relationships/slide" Target="/ppt/slides/slide4.xml" Id="Re65f3da8dfc24348" /><Relationship Type="http://schemas.openxmlformats.org/officeDocument/2006/relationships/slide" Target="/ppt/slides/slide5.xml" Id="R06a61831b0a5430e" /><Relationship Type="http://schemas.openxmlformats.org/officeDocument/2006/relationships/slide" Target="/ppt/slides/slide6.xml" Id="R68c77017102042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e83b7b0e684d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faaf7d5c034346" /><Relationship Type="http://schemas.openxmlformats.org/officeDocument/2006/relationships/notesMaster" Target="/ppt/notesMasters/notesMaster1.xml" Id="R0bd7465edd2d4b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42e14e97174fe2" /><Relationship Type="http://schemas.openxmlformats.org/officeDocument/2006/relationships/notesMaster" Target="/ppt/notesMasters/notesMaster1.xml" Id="Rca0aa9272dee43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b91d351e244372" /><Relationship Type="http://schemas.openxmlformats.org/officeDocument/2006/relationships/notesMaster" Target="/ppt/notesMasters/notesMaster1.xml" Id="R11df44d1f0da49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7c250668ee452c" /><Relationship Type="http://schemas.openxmlformats.org/officeDocument/2006/relationships/notesMaster" Target="/ppt/notesMasters/notesMaster1.xml" Id="R0f2ef49c67ba48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dac368cd304f3f" /><Relationship Type="http://schemas.openxmlformats.org/officeDocument/2006/relationships/notesMaster" Target="/ppt/notesMasters/notesMaster1.xml" Id="Rad57cb328c974d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bf33553af54da2" /><Relationship Type="http://schemas.openxmlformats.org/officeDocument/2006/relationships/notesMaster" Target="/ppt/notesMasters/notesMaster1.xml" Id="R247670eae3b140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0:00–0:25. Hello everyone. Today I’m presenting PawRise, a full-stack web application that helps pet owners organize health records, care reminders, pet profiles, and memories in one place. The homepage introduces that value immediately: care today, memories for life.</a:t>
            </a:r>
          </a:p>
          <a:p xmlns:a="http://schemas.openxmlformats.org/drawingml/2006/main">
            <a:r>
              <a:t/>
            </a:r>
          </a:p>
          <a:p xmlns:a="http://schemas.openxmlformats.org/drawingml/2006/main">
            <a:r>
              <a:t>[Sources]</a:t>
            </a:r>
          </a:p>
          <a:p xmlns:a="http://schemas.openxmlformats.org/drawingml/2006/main">
            <a:r>
              <a:t>- /Users/haochenlian/Documents/codexproject/pawrise/landing-desktop.png</a:t>
            </a:r>
          </a:p>
          <a:p xmlns:a="http://schemas.openxmlformats.org/drawingml/2006/main">
            <a:r>
              <a:t>- /Users/haochenlian/Documents/codexproject/pawrise/README.md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0:25–1:20. The business challenge is fragmentation. Owners may have appointment cards, medication labels, phone notes, and photos in different places. That creates missed dates and extra effort. PawRise brings those pieces together and turns veterinary instructions into a clear, actionable plan. The value is not simply that we built a website; it is the transition from scattered information to organized care.</a:t>
            </a:r>
          </a:p>
          <a:p xmlns:a="http://schemas.openxmlformats.org/drawingml/2006/main">
            <a:r>
              <a:t/>
            </a:r>
          </a:p>
          <a:p xmlns:a="http://schemas.openxmlformats.org/drawingml/2006/main">
            <a:r>
              <a:t>[Sources]</a:t>
            </a:r>
          </a:p>
          <a:p xmlns:a="http://schemas.openxmlformats.org/drawingml/2006/main">
            <a:r>
              <a:t>- /Users/haochenlian/Documents/codexproject/pawrise/landing-why-section.png</a:t>
            </a:r>
          </a:p>
          <a:p xmlns:a="http://schemas.openxmlformats.org/drawingml/2006/main">
            <a:r>
              <a:t>- /Users/haochenlian/Documents/codexproject/pawrise/frontend/src/landing.jsx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1:20–2:25. The homepage is designed as a product story, not a feature inventory. First, the hero makes a clear promise. Next, the Why PawRise section explains the problem. Then the feature sections show real interface previews for care planning, medical records, and memories. Finally, How it works and the call to action move the visitor into the authenticated app. The most important workflow is the connection between Medical Records and Care Reminders: PawRise extracts medication and follow-up information, but the owner reviews and confirms each item before a reminder is created.</a:t>
            </a:r>
          </a:p>
          <a:p xmlns:a="http://schemas.openxmlformats.org/drawingml/2006/main">
            <a:r>
              <a:t/>
            </a:r>
          </a:p>
          <a:p xmlns:a="http://schemas.openxmlformats.org/drawingml/2006/main">
            <a:r>
              <a:t>[Sources]</a:t>
            </a:r>
          </a:p>
          <a:p xmlns:a="http://schemas.openxmlformats.org/drawingml/2006/main">
            <a:r>
              <a:t>- /Users/haochenlian/Documents/codexproject/pawrise/landing-features-section.png</a:t>
            </a:r>
          </a:p>
          <a:p xmlns:a="http://schemas.openxmlformats.org/drawingml/2006/main">
            <a:r>
              <a:t>- /Users/haochenlian/Documents/codexproject/pawrise/frontend/src/landing.jsx</a:t>
            </a:r>
          </a:p>
          <a:p xmlns:a="http://schemas.openxmlformats.org/drawingml/2006/main">
            <a:r>
              <a:t>- /Users/haochenlian/Documents/codexproject/pawrise/docs/MEDICAL_RECORDS_AND_REMINDERS.md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2:25–3:30. At a high level, the user interacts with a React and Vite frontend. The frontend calls a Flask REST API, and JWT protects authenticated operations. Flask contains the business areas for accounts, pet profiles, medical records, reminders, memories, settings, and the dashboard. SQLAlchemy stores relational data in SQLite, while authenticated file storage handles images and uploaded records. For medical records, the service can use OpenAI structured extraction when a key is available, with a local fallback. In both cases the result is a draft: the owner reviews it before reminders are created.</a:t>
            </a:r>
          </a:p>
          <a:p xmlns:a="http://schemas.openxmlformats.org/drawingml/2006/main">
            <a:r>
              <a:t/>
            </a:r>
          </a:p>
          <a:p xmlns:a="http://schemas.openxmlformats.org/drawingml/2006/main">
            <a:r>
              <a:t>[Sources]</a:t>
            </a:r>
          </a:p>
          <a:p xmlns:a="http://schemas.openxmlformats.org/drawingml/2006/main">
            <a:r>
              <a:t>- /Users/haochenlian/Documents/codexproject/pawrise/README.md</a:t>
            </a:r>
          </a:p>
          <a:p xmlns:a="http://schemas.openxmlformats.org/drawingml/2006/main">
            <a:r>
              <a:t>- /Users/haochenlian/Documents/codexproject/pawrise/backend/app/__init__.py</a:t>
            </a:r>
          </a:p>
          <a:p xmlns:a="http://schemas.openxmlformats.org/drawingml/2006/main">
            <a:r>
              <a:t>- /Users/haochenlian/Documents/codexproject/pawrise/backend/app/services/ai_medical_extraction.py</a:t>
            </a:r>
          </a:p>
          <a:p xmlns:a="http://schemas.openxmlformats.org/drawingml/2006/main">
            <a:r>
              <a:t>- /Users/haochenlian/Documents/codexproject/pawrise/backend/app/services/medical_extraction.py</a:t>
            </a:r>
          </a:p>
          <a:p xmlns:a="http://schemas.openxmlformats.org/drawingml/2006/main">
            <a:r>
              <a:t>- /Users/haochenlian/Documents/codexproject/pawrise/frontend/package.json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3:30–6:50. Switch to the browser. First, spend about 45 seconds on the homepage: point out the immediate promise, the Why PawRise section, feature previews, and the Get started path. Second, log in using a prepared account and pet. Third, open Medical Records, paste a short veterinary instruction, and show the extracted draft. Emphasize that nothing becomes a reminder automatically. Review the fields, confirm the selected medication or follow-up items, then open Care Reminders and the dashboard or care history to show the completed loop. Keep one backup screenshot ready in case the local server has a problem. Do not open the code unless a reviewer asks.</a:t>
            </a:r>
          </a:p>
          <a:p xmlns:a="http://schemas.openxmlformats.org/drawingml/2006/main">
            <a:r>
              <a:t/>
            </a:r>
          </a:p>
          <a:p xmlns:a="http://schemas.openxmlformats.org/drawingml/2006/main">
            <a:r>
              <a:t>[Sources]</a:t>
            </a:r>
          </a:p>
          <a:p xmlns:a="http://schemas.openxmlformats.org/drawingml/2006/main">
            <a:r>
              <a:t>- /Users/haochenlian/Documents/codexproject/pawrise/frontend/src/landing.jsx</a:t>
            </a:r>
          </a:p>
          <a:p xmlns:a="http://schemas.openxmlformats.org/drawingml/2006/main">
            <a:r>
              <a:t>- /Users/haochenlian/Documents/codexproject/pawrise/frontend/src/App.jsx</a:t>
            </a:r>
          </a:p>
          <a:p xmlns:a="http://schemas.openxmlformats.org/drawingml/2006/main">
            <a:r>
              <a:t>- /Users/haochenlian/Documents/codexproject/pawrise/docs/MEDICAL_RECORDS_AND_REMINDERS.md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6:50–7:30. To close, the current codebase passes all 69 backend tests, including authentication, ownership, reminders, uploads, medical records, and extraction behavior. The Vite production build also completes successfully. PawRise is ready for the dry run because the homepage communicates the value, the full stack supports the workflow, and the core behavior is verified. I’m happy to take questions.</a:t>
            </a:r>
          </a:p>
          <a:p xmlns:a="http://schemas.openxmlformats.org/drawingml/2006/main">
            <a:r>
              <a:t/>
            </a:r>
          </a:p>
          <a:p xmlns:a="http://schemas.openxmlformats.org/drawingml/2006/main">
            <a:r>
              <a:t>[Sources]</a:t>
            </a:r>
          </a:p>
          <a:p xmlns:a="http://schemas.openxmlformats.org/drawingml/2006/main">
            <a:r>
              <a:t>- Local verification on 2026-08-10: pytest — 69 passed in 10.00s</a:t>
            </a:r>
          </a:p>
          <a:p xmlns:a="http://schemas.openxmlformats.org/drawingml/2006/main">
            <a:r>
              <a:t>- Local verification on 2026-08-10: pnpm run build — Vite production build completed successfully</a:t>
            </a:r>
          </a:p>
          <a:p xmlns:a="http://schemas.openxmlformats.org/drawingml/2006/main">
            <a:r>
              <a:t>- /Users/haochenlian/Documents/codexproject/pawrise/backend/tests</a:t>
            </a:r>
          </a:p>
          <a:p xmlns:a="http://schemas.openxmlformats.org/drawingml/2006/main">
            <a:r>
              <a:t>- /Users/haochenlian/Documents/codexproject/pawrise/frontend/package.json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e574d9a8f646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620aedb9fb404b" /><Relationship Type="http://schemas.openxmlformats.org/officeDocument/2006/relationships/slideLayout" Target="/ppt/slideLayouts/slideLayout1.xml" Id="R5a0694aa9ba14c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0694aa9ba14c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a642bf1455408b" /><Relationship Type="http://schemas.openxmlformats.org/officeDocument/2006/relationships/image" Target="/ppt/media/image.jpeg" Id="R3e037e4cd7cc4d4c" /><Relationship Type="http://schemas.openxmlformats.org/officeDocument/2006/relationships/notesSlide" Target="/ppt/notesSlides/notesSlide1.xml" Id="R250bd2529d4f42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5e73429b4e4f3c" /><Relationship Type="http://schemas.openxmlformats.org/officeDocument/2006/relationships/image" Target="/ppt/media/image2.jpeg" Id="R8610c7df0cba4816" /><Relationship Type="http://schemas.openxmlformats.org/officeDocument/2006/relationships/notesSlide" Target="/ppt/notesSlides/notesSlide2.xml" Id="R81361863e5bc46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a5754149824757" /><Relationship Type="http://schemas.openxmlformats.org/officeDocument/2006/relationships/image" Target="/ppt/media/image3.jpeg" Id="Rf7e85ef8e1b24efc" /><Relationship Type="http://schemas.openxmlformats.org/officeDocument/2006/relationships/notesSlide" Target="/ppt/notesSlides/notesSlide3.xml" Id="R872a3fb5232040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39e79c76a44b63" /><Relationship Type="http://schemas.openxmlformats.org/officeDocument/2006/relationships/notesSlide" Target="/ppt/notesSlides/notesSlide4.xml" Id="Rc2e6ad6c3f134a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8af36fbe0e4071" /><Relationship Type="http://schemas.openxmlformats.org/officeDocument/2006/relationships/notesSlide" Target="/ppt/notesSlides/notesSlide5.xml" Id="Red342342d4f24e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bb203e3d5344aa" /><Relationship Type="http://schemas.openxmlformats.org/officeDocument/2006/relationships/notesSlide" Target="/ppt/notesSlides/notesSlide6.xml" Id="Rae108803efc843b8" /></Relationships>
</file>

<file path=ppt/slides/slide1.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056C6E-364F-4B93-B2B6-5F40D66E2AA3}"/>
              </a:ext>
            </a:extLst>
          </p:cNvPr>
          <p:cNvSpPr>
            <a:spLocks xmlns:a="http://schemas.openxmlformats.org/drawingml/2006/main" noGrp="1"/>
          </p:cNvSpPr>
          <p:nvPr/>
        </p:nvSpPr>
        <p:spPr>
          <a:xfrm xmlns:a="http://schemas.openxmlformats.org/drawingml/2006/main">
            <a:off x="0" y="0"/>
            <a:ext cx="4248150" cy="6858000"/>
          </a:xfrm>
          <a:prstGeom xmlns:a="http://schemas.openxmlformats.org/drawingml/2006/main" prst="rect">
            <a:avLst/>
          </a:prstGeom>
          <a:solidFill xmlns:a="http://schemas.openxmlformats.org/drawingml/2006/main">
            <a:srgbClr val="58725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6F73F1-5D74-4DC1-9B17-27F5FAA25E0F}"/>
              </a:ext>
            </a:extLst>
          </p:cNvPr>
          <p:cNvSpPr>
            <a:spLocks xmlns:a="http://schemas.openxmlformats.org/drawingml/2006/main" noGrp="1"/>
          </p:cNvSpPr>
          <p:nvPr/>
        </p:nvSpPr>
        <p:spPr>
          <a:xfrm xmlns:a="http://schemas.openxmlformats.org/drawingml/2006/main">
            <a:off x="552450" y="552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A5E5B2"/>
                </a:solidFill>
                <a:latin typeface="Arial"/>
                <a:ea typeface="Arial"/>
                <a:cs typeface="Arial"/>
              </a:defRPr>
            </a:pPr>
            <a:r>
              <a:rPr sz="1350" b="1">
                <a:solidFill>
                  <a:srgbClr val="A5E5B2"/>
                </a:solidFill>
                <a:latin typeface="Arial"/>
                <a:ea typeface="Arial"/>
                <a:cs typeface="Arial"/>
              </a:rPr>
              <a:t>PAWRISE</a:t>
            </a:r>
          </a:p>
        </p:txBody>
      </p:sp>
      <p:sp>
        <p:nvSpPr>
          <p:cNvPr id="3" name="">
            <a:extLst xmlns:a="http://schemas.openxmlformats.org/drawingml/2006/main">
              <a:ext uri="{FF2B5EF4-FFF2-40B4-BE49-F238E27FC236}">
                <a16:creationId xmlns:a16="http://schemas.microsoft.com/office/drawing/2014/main" id="{6A5D86C1-72A2-4B1B-9832-F1F485AB3196}"/>
              </a:ext>
            </a:extLst>
          </p:cNvPr>
          <p:cNvSpPr>
            <a:spLocks xmlns:a="http://schemas.openxmlformats.org/drawingml/2006/main" noGrp="1"/>
          </p:cNvSpPr>
          <p:nvPr/>
        </p:nvSpPr>
        <p:spPr>
          <a:xfrm xmlns:a="http://schemas.openxmlformats.org/drawingml/2006/main">
            <a:off x="552450" y="1409700"/>
            <a:ext cx="32004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900" b="1">
                <a:solidFill>
                  <a:srgbClr val="FFFFFF"/>
                </a:solidFill>
                <a:latin typeface="Georgia"/>
                <a:ea typeface="Georgia"/>
                <a:cs typeface="Georgia"/>
              </a:defRPr>
            </a:pPr>
            <a:r>
              <a:rPr sz="3900" b="1">
                <a:solidFill>
                  <a:srgbClr val="FFFFFF"/>
                </a:solidFill>
                <a:latin typeface="Georgia"/>
                <a:ea typeface="Georgia"/>
                <a:cs typeface="Georgia"/>
              </a:rPr>
              <a:t>One place for pet health, care, and memories</a:t>
            </a:r>
          </a:p>
        </p:txBody>
      </p:sp>
      <p:sp>
        <p:nvSpPr>
          <p:cNvPr id="4" name="">
            <a:extLst xmlns:a="http://schemas.openxmlformats.org/drawingml/2006/main">
              <a:ext uri="{FF2B5EF4-FFF2-40B4-BE49-F238E27FC236}">
                <a16:creationId xmlns:a16="http://schemas.microsoft.com/office/drawing/2014/main" id="{9809B25F-31C1-4EEE-959E-05BF4307BD19}"/>
              </a:ext>
            </a:extLst>
          </p:cNvPr>
          <p:cNvSpPr>
            <a:spLocks xmlns:a="http://schemas.openxmlformats.org/drawingml/2006/main" noGrp="1"/>
          </p:cNvSpPr>
          <p:nvPr/>
        </p:nvSpPr>
        <p:spPr>
          <a:xfrm xmlns:a="http://schemas.openxmlformats.org/drawingml/2006/main">
            <a:off x="552450" y="4248150"/>
            <a:ext cx="781050" cy="57150"/>
          </a:xfrm>
          <a:prstGeom xmlns:a="http://schemas.openxmlformats.org/drawingml/2006/main" prst="rect">
            <a:avLst/>
          </a:prstGeom>
          <a:solidFill xmlns:a="http://schemas.openxmlformats.org/drawingml/2006/main">
            <a:srgbClr val="DF72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BEB2AA7-DA38-471B-A59A-685522E6B647}"/>
              </a:ext>
            </a:extLst>
          </p:cNvPr>
          <p:cNvSpPr>
            <a:spLocks xmlns:a="http://schemas.openxmlformats.org/drawingml/2006/main" noGrp="1"/>
          </p:cNvSpPr>
          <p:nvPr/>
        </p:nvSpPr>
        <p:spPr>
          <a:xfrm xmlns:a="http://schemas.openxmlformats.org/drawingml/2006/main">
            <a:off x="552450" y="451485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A full-stack pet care management platform</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e037e4cd7cc4d4c"/>
          <a:srcRect xmlns:a="http://schemas.openxmlformats.org/drawingml/2006/main" l="15202" t="0" r="15202" b="0"/>
          <a:stretch xmlns:a="http://schemas.openxmlformats.org/drawingml/2006/main">
            <a:fillRect l="0" t="0" r="0" b="0"/>
          </a:stretch>
        </p:blipFill>
        <p:spPr>
          <a:xfrm xmlns:a="http://schemas.openxmlformats.org/drawingml/2006/main">
            <a:off x="4610100" y="609600"/>
            <a:ext cx="6972300" cy="5638800"/>
          </a:xfrm>
          <a:prstGeom xmlns:a="http://schemas.openxmlformats.org/drawingml/2006/main" prst="roundRect">
            <a:avLst>
              <a:gd name="adj" fmla="val 4054"/>
            </a:avLst>
          </a:prstGeom>
        </p:spPr>
      </p:pic>
    </p:spTree>
    <p:extLst>
      <p:ext uri="{BB962C8B-B14F-4D97-AF65-F5344CB8AC3E}">
        <p14:creationId xmlns:p14="http://schemas.microsoft.com/office/powerpoint/2010/main" val="714936236"/>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9" name="section-kicker">
            <a:extLst xmlns:a="http://schemas.openxmlformats.org/drawingml/2006/main">
              <a:ext uri="{FF2B5EF4-FFF2-40B4-BE49-F238E27FC236}">
                <a16:creationId xmlns:a16="http://schemas.microsoft.com/office/drawing/2014/main" id="{5CD0E030-2BFC-45B1-B8BB-EED08C5CD812}"/>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587257"/>
                </a:solidFill>
                <a:latin typeface="Arial"/>
                <a:ea typeface="Arial"/>
                <a:cs typeface="Arial"/>
              </a:defRPr>
            </a:pPr>
            <a:r>
              <a:rPr sz="1200" b="1">
                <a:solidFill>
                  <a:srgbClr val="587257"/>
                </a:solidFill>
                <a:latin typeface="Arial"/>
                <a:ea typeface="Arial"/>
                <a:cs typeface="Arial"/>
              </a:rPr>
              <a:t>BUSINESS CHALLENGE</a:t>
            </a:r>
          </a:p>
        </p:txBody>
      </p:sp>
      <p:sp>
        <p:nvSpPr>
          <p:cNvPr id="2" name="">
            <a:extLst xmlns:a="http://schemas.openxmlformats.org/drawingml/2006/main">
              <a:ext uri="{FF2B5EF4-FFF2-40B4-BE49-F238E27FC236}">
                <a16:creationId xmlns:a16="http://schemas.microsoft.com/office/drawing/2014/main" id="{3ECC2382-517D-4738-BA98-6A85BDD91AF5}"/>
              </a:ext>
            </a:extLst>
          </p:cNvPr>
          <p:cNvSpPr>
            <a:spLocks xmlns:a="http://schemas.openxmlformats.org/drawingml/2006/main" noGrp="1"/>
          </p:cNvSpPr>
          <p:nvPr/>
        </p:nvSpPr>
        <p:spPr>
          <a:xfrm xmlns:a="http://schemas.openxmlformats.org/drawingml/2006/main">
            <a:off x="609600" y="781050"/>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2B2621"/>
                </a:solidFill>
                <a:latin typeface="Georgia"/>
                <a:ea typeface="Georgia"/>
                <a:cs typeface="Georgia"/>
              </a:defRPr>
            </a:pPr>
            <a:r>
              <a:rPr sz="2925" b="1">
                <a:solidFill>
                  <a:srgbClr val="2B2621"/>
                </a:solidFill>
                <a:latin typeface="Georgia"/>
                <a:ea typeface="Georgia"/>
                <a:cs typeface="Georgia"/>
              </a:rPr>
              <a:t>Pet care information is often scattered—and easy to miss</a:t>
            </a:r>
          </a:p>
        </p:txBody>
      </p:sp>
      <p:sp>
        <p:nvSpPr>
          <p:cNvPr id="3" name="">
            <a:extLst xmlns:a="http://schemas.openxmlformats.org/drawingml/2006/main">
              <a:ext uri="{FF2B5EF4-FFF2-40B4-BE49-F238E27FC236}">
                <a16:creationId xmlns:a16="http://schemas.microsoft.com/office/drawing/2014/main" id="{1CB373FD-4520-495A-A5E5-1E72AD906643}"/>
              </a:ext>
            </a:extLst>
          </p:cNvPr>
          <p:cNvSpPr>
            <a:spLocks xmlns:a="http://schemas.openxmlformats.org/drawingml/2006/main" noGrp="1"/>
          </p:cNvSpPr>
          <p:nvPr/>
        </p:nvSpPr>
        <p:spPr>
          <a:xfrm xmlns:a="http://schemas.openxmlformats.org/drawingml/2006/main">
            <a:off x="609600" y="2095500"/>
            <a:ext cx="4476750" cy="2686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2B2621"/>
                </a:solidFill>
                <a:latin typeface="Arial"/>
                <a:ea typeface="Arial"/>
                <a:cs typeface="Arial"/>
              </a:defRPr>
            </a:pPr>
            <a:r>
              <a:rPr sz="1650" b="0">
                <a:solidFill>
                  <a:srgbClr val="2B2621"/>
                </a:solidFill>
                <a:latin typeface="Arial"/>
                <a:ea typeface="Arial"/>
                <a:cs typeface="Arial"/>
              </a:rPr>
              <a:t>Veterinary instructions live in paper documents or messages.</a:t>
            </a:r>
          </a:p>
          <a:p xmlns:a="http://schemas.openxmlformats.org/drawingml/2006/main">
            <a:r>
              <a:t/>
            </a:r>
          </a:p>
          <a:p xmlns:a="http://schemas.openxmlformats.org/drawingml/2006/main">
            <a:pPr algn="l">
              <a:defRPr sz="1650" b="0">
                <a:solidFill>
                  <a:srgbClr val="2B2621"/>
                </a:solidFill>
                <a:latin typeface="Arial"/>
                <a:ea typeface="Arial"/>
                <a:cs typeface="Arial"/>
              </a:defRPr>
            </a:pPr>
            <a:r>
              <a:rPr sz="1650" b="0">
                <a:solidFill>
                  <a:srgbClr val="2B2621"/>
                </a:solidFill>
                <a:latin typeface="Arial"/>
                <a:ea typeface="Arial"/>
                <a:cs typeface="Arial"/>
              </a:rPr>
              <a:t>Medication and follow-up dates can be forgotten.</a:t>
            </a:r>
          </a:p>
          <a:p xmlns:a="http://schemas.openxmlformats.org/drawingml/2006/main">
            <a:r>
              <a:t/>
            </a:r>
          </a:p>
          <a:p xmlns:a="http://schemas.openxmlformats.org/drawingml/2006/main">
            <a:pPr algn="l">
              <a:defRPr sz="1650" b="0">
                <a:solidFill>
                  <a:srgbClr val="2B2621"/>
                </a:solidFill>
                <a:latin typeface="Arial"/>
                <a:ea typeface="Arial"/>
                <a:cs typeface="Arial"/>
              </a:defRPr>
            </a:pPr>
            <a:r>
              <a:rPr sz="1650" b="0">
                <a:solidFill>
                  <a:srgbClr val="2B2621"/>
                </a:solidFill>
                <a:latin typeface="Arial"/>
                <a:ea typeface="Arial"/>
                <a:cs typeface="Arial"/>
              </a:rPr>
              <a:t>Health information and memories are kept in different places.</a:t>
            </a:r>
          </a:p>
        </p:txBody>
      </p:sp>
      <p:sp>
        <p:nvSpPr>
          <p:cNvPr id="4" name="">
            <a:extLst xmlns:a="http://schemas.openxmlformats.org/drawingml/2006/main">
              <a:ext uri="{FF2B5EF4-FFF2-40B4-BE49-F238E27FC236}">
                <a16:creationId xmlns:a16="http://schemas.microsoft.com/office/drawing/2014/main" id="{3C22ADC1-FFD8-436C-ACF5-4923551B0A8A}"/>
              </a:ext>
            </a:extLst>
          </p:cNvPr>
          <p:cNvSpPr>
            <a:spLocks xmlns:a="http://schemas.openxmlformats.org/drawingml/2006/main" noGrp="1"/>
          </p:cNvSpPr>
          <p:nvPr/>
        </p:nvSpPr>
        <p:spPr>
          <a:xfrm xmlns:a="http://schemas.openxmlformats.org/drawingml/2006/main">
            <a:off x="609600" y="5143500"/>
            <a:ext cx="4476750" cy="876300"/>
          </a:xfrm>
          <a:prstGeom xmlns:a="http://schemas.openxmlformats.org/drawingml/2006/main" prst="roundRect">
            <a:avLst>
              <a:gd name="adj" fmla="val 17391"/>
            </a:avLst>
          </a:prstGeom>
          <a:solidFill xmlns:a="http://schemas.openxmlformats.org/drawingml/2006/main">
            <a:srgbClr val="E6EEE3"/>
          </a:solidFill>
          <a:ln xmlns:a="http://schemas.openxmlformats.org/drawingml/2006/main" w="9525">
            <a:solidFill>
              <a:srgbClr val="587257"/>
            </a:solidFill>
            <a:prstDash val="solid"/>
          </a:ln>
        </p:spPr>
      </p:sp>
      <p:sp>
        <p:nvSpPr>
          <p:cNvPr id="5" name="">
            <a:extLst xmlns:a="http://schemas.openxmlformats.org/drawingml/2006/main">
              <a:ext uri="{FF2B5EF4-FFF2-40B4-BE49-F238E27FC236}">
                <a16:creationId xmlns:a16="http://schemas.microsoft.com/office/drawing/2014/main" id="{D454EF4F-BE34-467E-85DE-7EB14663DF30}"/>
              </a:ext>
            </a:extLst>
          </p:cNvPr>
          <p:cNvSpPr>
            <a:spLocks xmlns:a="http://schemas.openxmlformats.org/drawingml/2006/main" noGrp="1"/>
          </p:cNvSpPr>
          <p:nvPr/>
        </p:nvSpPr>
        <p:spPr>
          <a:xfrm xmlns:a="http://schemas.openxmlformats.org/drawingml/2006/main">
            <a:off x="838200" y="5391150"/>
            <a:ext cx="4019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889"/>
          </a:bodyPr>
          <a:lstStyle xmlns:a="http://schemas.openxmlformats.org/drawingml/2006/main"/>
          <a:p xmlns:a="http://schemas.openxmlformats.org/drawingml/2006/main">
            <a:pPr algn="l">
              <a:defRPr sz="1650" b="1">
                <a:solidFill>
                  <a:srgbClr val="587257"/>
                </a:solidFill>
                <a:latin typeface="Arial"/>
                <a:ea typeface="Arial"/>
                <a:cs typeface="Arial"/>
              </a:defRPr>
            </a:pPr>
            <a:r>
              <a:rPr sz="1650" b="1">
                <a:solidFill>
                  <a:srgbClr val="587257"/>
                </a:solidFill>
                <a:latin typeface="Arial"/>
                <a:ea typeface="Arial"/>
                <a:cs typeface="Arial"/>
              </a:rPr>
              <a:t>Scattered information  →  one organized care plan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610c7df0cba4816"/>
          <a:srcRect xmlns:a="http://schemas.openxmlformats.org/drawingml/2006/main" l="9465" t="0" r="9465" b="0"/>
          <a:stretch xmlns:a="http://schemas.openxmlformats.org/drawingml/2006/main">
            <a:fillRect l="0" t="0" r="0" b="0"/>
          </a:stretch>
        </p:blipFill>
        <p:spPr>
          <a:xfrm xmlns:a="http://schemas.openxmlformats.org/drawingml/2006/main">
            <a:off x="5600700" y="1866900"/>
            <a:ext cx="5981700" cy="4152900"/>
          </a:xfrm>
          <a:prstGeom xmlns:a="http://schemas.openxmlformats.org/drawingml/2006/main" prst="roundRect">
            <a:avLst>
              <a:gd name="adj" fmla="val 5046"/>
            </a:avLst>
          </a:prstGeom>
        </p:spPr>
      </p:pic>
      <p:sp>
        <p:nvSpPr>
          <p:cNvPr id="7" name="">
            <a:extLst xmlns:a="http://schemas.openxmlformats.org/drawingml/2006/main">
              <a:ext uri="{FF2B5EF4-FFF2-40B4-BE49-F238E27FC236}">
                <a16:creationId xmlns:a16="http://schemas.microsoft.com/office/drawing/2014/main" id="{C1672776-990F-4459-BD80-430A4608CA36}"/>
              </a:ext>
            </a:extLst>
          </p:cNvPr>
          <p:cNvSpPr>
            <a:spLocks xmlns:a="http://schemas.openxmlformats.org/drawingml/2006/main" noGrp="1"/>
          </p:cNvSpPr>
          <p:nvPr/>
        </p:nvSpPr>
        <p:spPr>
          <a:xfrm xmlns:a="http://schemas.openxmlformats.org/drawingml/2006/main">
            <a:off x="609600" y="64865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6F695F"/>
                </a:solidFill>
                <a:latin typeface="Arial"/>
                <a:ea typeface="Arial"/>
                <a:cs typeface="Arial"/>
              </a:defRPr>
            </a:pPr>
            <a:r>
              <a:rPr sz="825" b="0">
                <a:solidFill>
                  <a:srgbClr val="6F695F"/>
                </a:solidFill>
                <a:latin typeface="Arial"/>
                <a:ea typeface="Arial"/>
                <a:cs typeface="Arial"/>
              </a:rPr>
              <a:t>PAWRISE  •  MILESTONE 4</a:t>
            </a:r>
          </a:p>
        </p:txBody>
      </p:sp>
      <p:sp>
        <p:nvSpPr>
          <p:cNvPr id="8" name="">
            <a:extLst xmlns:a="http://schemas.openxmlformats.org/drawingml/2006/main">
              <a:ext uri="{FF2B5EF4-FFF2-40B4-BE49-F238E27FC236}">
                <a16:creationId xmlns:a16="http://schemas.microsoft.com/office/drawing/2014/main" id="{25B33D5C-8596-4BA0-BDA2-B0239CB5FD1C}"/>
              </a:ext>
            </a:extLst>
          </p:cNvPr>
          <p:cNvSpPr>
            <a:spLocks xmlns:a="http://schemas.openxmlformats.org/drawingml/2006/main" noGrp="1"/>
          </p:cNvSpPr>
          <p:nvPr/>
        </p:nvSpPr>
        <p:spPr>
          <a:xfrm xmlns:a="http://schemas.openxmlformats.org/drawingml/2006/main">
            <a:off x="11239500" y="64865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a:solidFill>
                  <a:srgbClr val="6F695F"/>
                </a:solidFill>
                <a:latin typeface="Arial"/>
                <a:ea typeface="Arial"/>
                <a:cs typeface="Arial"/>
              </a:defRPr>
            </a:pPr>
            <a:r>
              <a:rPr sz="825" b="0">
                <a:solidFill>
                  <a:srgbClr val="6F695F"/>
                </a:solidFill>
                <a:latin typeface="Arial"/>
                <a:ea typeface="Arial"/>
                <a:cs typeface="Arial"/>
              </a:rPr>
              <a:t>2</a:t>
            </a:r>
          </a:p>
        </p:txBody>
      </p:sp>
    </p:spTree>
    <p:extLst>
      <p:ext uri="{BB962C8B-B14F-4D97-AF65-F5344CB8AC3E}">
        <p14:creationId xmlns:p14="http://schemas.microsoft.com/office/powerpoint/2010/main" val="837718355"/>
      </p:ext>
    </p:extLst>
  </p:cSld>
</p:sld>
</file>

<file path=ppt/slides/slide3.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17" name="section-kicker">
            <a:extLst xmlns:a="http://schemas.openxmlformats.org/drawingml/2006/main">
              <a:ext uri="{FF2B5EF4-FFF2-40B4-BE49-F238E27FC236}">
                <a16:creationId xmlns:a16="http://schemas.microsoft.com/office/drawing/2014/main" id="{2D253986-8F02-4CCD-8B75-826045C60026}"/>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DF725B"/>
                </a:solidFill>
                <a:latin typeface="Arial"/>
                <a:ea typeface="Arial"/>
                <a:cs typeface="Arial"/>
              </a:defRPr>
            </a:pPr>
            <a:r>
              <a:rPr sz="1200" b="1">
                <a:solidFill>
                  <a:srgbClr val="DF725B"/>
                </a:solidFill>
                <a:latin typeface="Arial"/>
                <a:ea typeface="Arial"/>
                <a:cs typeface="Arial"/>
              </a:rPr>
              <a:t>HOMEPAGE STRATEGY</a:t>
            </a:r>
          </a:p>
        </p:txBody>
      </p:sp>
      <p:sp>
        <p:nvSpPr>
          <p:cNvPr id="2" name="">
            <a:extLst xmlns:a="http://schemas.openxmlformats.org/drawingml/2006/main">
              <a:ext uri="{FF2B5EF4-FFF2-40B4-BE49-F238E27FC236}">
                <a16:creationId xmlns:a16="http://schemas.microsoft.com/office/drawing/2014/main" id="{16E880CA-7EEA-49F6-8827-7BCD3B67D52E}"/>
              </a:ext>
            </a:extLst>
          </p:cNvPr>
          <p:cNvSpPr>
            <a:spLocks xmlns:a="http://schemas.openxmlformats.org/drawingml/2006/main" noGrp="1"/>
          </p:cNvSpPr>
          <p:nvPr/>
        </p:nvSpPr>
        <p:spPr>
          <a:xfrm xmlns:a="http://schemas.openxmlformats.org/drawingml/2006/main">
            <a:off x="609600" y="781050"/>
            <a:ext cx="876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2B2621"/>
                </a:solidFill>
                <a:latin typeface="Georgia"/>
                <a:ea typeface="Georgia"/>
                <a:cs typeface="Georgia"/>
              </a:defRPr>
            </a:pPr>
            <a:r>
              <a:rPr sz="2925" b="1">
                <a:solidFill>
                  <a:srgbClr val="2B2621"/>
                </a:solidFill>
                <a:latin typeface="Georgia"/>
                <a:ea typeface="Georgia"/>
                <a:cs typeface="Georgia"/>
              </a:rPr>
              <a:t>The homepage explains the product before the user signs in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7e85ef8e1b24efc"/>
          <a:srcRect xmlns:a="http://schemas.openxmlformats.org/drawingml/2006/main" l="3925" t="0" r="3925" b="0"/>
          <a:stretch xmlns:a="http://schemas.openxmlformats.org/drawingml/2006/main">
            <a:fillRect l="0" t="0" r="0" b="0"/>
          </a:stretch>
        </p:blipFill>
        <p:spPr>
          <a:xfrm xmlns:a="http://schemas.openxmlformats.org/drawingml/2006/main">
            <a:off x="609600" y="1790700"/>
            <a:ext cx="6705600" cy="4095750"/>
          </a:xfrm>
          <a:prstGeom xmlns:a="http://schemas.openxmlformats.org/drawingml/2006/main" prst="roundRect">
            <a:avLst>
              <a:gd name="adj" fmla="val 5116"/>
            </a:avLst>
          </a:prstGeom>
        </p:spPr>
      </p:pic>
      <p:sp>
        <p:nvSpPr>
          <p:cNvPr id="4" name="">
            <a:extLst xmlns:a="http://schemas.openxmlformats.org/drawingml/2006/main">
              <a:ext uri="{FF2B5EF4-FFF2-40B4-BE49-F238E27FC236}">
                <a16:creationId xmlns:a16="http://schemas.microsoft.com/office/drawing/2014/main" id="{80FE1424-0979-4EA0-A57F-947B0EE6D0FF}"/>
              </a:ext>
            </a:extLst>
          </p:cNvPr>
          <p:cNvSpPr>
            <a:spLocks xmlns:a="http://schemas.openxmlformats.org/drawingml/2006/main" noGrp="1"/>
          </p:cNvSpPr>
          <p:nvPr/>
        </p:nvSpPr>
        <p:spPr>
          <a:xfrm xmlns:a="http://schemas.openxmlformats.org/drawingml/2006/main">
            <a:off x="7848600" y="19240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DF725B"/>
                </a:solidFill>
                <a:latin typeface="Arial"/>
                <a:ea typeface="Arial"/>
                <a:cs typeface="Arial"/>
              </a:defRPr>
            </a:pPr>
            <a:r>
              <a:rPr sz="1800" b="1">
                <a:solidFill>
                  <a:srgbClr val="DF72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059F1FB-1289-4F3B-ABF2-3952B7502579}"/>
              </a:ext>
            </a:extLst>
          </p:cNvPr>
          <p:cNvSpPr>
            <a:spLocks xmlns:a="http://schemas.openxmlformats.org/drawingml/2006/main" noGrp="1"/>
          </p:cNvSpPr>
          <p:nvPr/>
        </p:nvSpPr>
        <p:spPr>
          <a:xfrm xmlns:a="http://schemas.openxmlformats.org/drawingml/2006/main">
            <a:off x="8439150" y="19240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2B2621"/>
                </a:solidFill>
                <a:latin typeface="Arial"/>
                <a:ea typeface="Arial"/>
                <a:cs typeface="Arial"/>
              </a:defRPr>
            </a:pPr>
            <a:r>
              <a:rPr sz="1800" b="1">
                <a:solidFill>
                  <a:srgbClr val="2B2621"/>
                </a:solidFill>
                <a:latin typeface="Arial"/>
                <a:ea typeface="Arial"/>
                <a:cs typeface="Arial"/>
              </a:rPr>
              <a:t>Clear promise</a:t>
            </a:r>
          </a:p>
        </p:txBody>
      </p:sp>
      <p:sp>
        <p:nvSpPr>
          <p:cNvPr id="6" name="">
            <a:extLst xmlns:a="http://schemas.openxmlformats.org/drawingml/2006/main">
              <a:ext uri="{FF2B5EF4-FFF2-40B4-BE49-F238E27FC236}">
                <a16:creationId xmlns:a16="http://schemas.microsoft.com/office/drawing/2014/main" id="{28AC135F-3AD8-4CA4-B853-F36B3816EB71}"/>
              </a:ext>
            </a:extLst>
          </p:cNvPr>
          <p:cNvSpPr>
            <a:spLocks xmlns:a="http://schemas.openxmlformats.org/drawingml/2006/main" noGrp="1"/>
          </p:cNvSpPr>
          <p:nvPr/>
        </p:nvSpPr>
        <p:spPr>
          <a:xfrm xmlns:a="http://schemas.openxmlformats.org/drawingml/2006/main">
            <a:off x="7848600" y="23241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F695F"/>
                </a:solidFill>
                <a:latin typeface="Arial"/>
                <a:ea typeface="Arial"/>
                <a:cs typeface="Arial"/>
              </a:defRPr>
            </a:pPr>
            <a:r>
              <a:rPr sz="1425" b="0">
                <a:solidFill>
                  <a:srgbClr val="6F695F"/>
                </a:solidFill>
                <a:latin typeface="Arial"/>
                <a:ea typeface="Arial"/>
                <a:cs typeface="Arial"/>
              </a:rPr>
              <a:t>The hero states the outcome: plan care, organize records, and preserve memories.</a:t>
            </a:r>
          </a:p>
        </p:txBody>
      </p:sp>
      <p:sp>
        <p:nvSpPr>
          <p:cNvPr id="7" name="">
            <a:extLst xmlns:a="http://schemas.openxmlformats.org/drawingml/2006/main">
              <a:ext uri="{FF2B5EF4-FFF2-40B4-BE49-F238E27FC236}">
                <a16:creationId xmlns:a16="http://schemas.microsoft.com/office/drawing/2014/main" id="{FCEDBD1F-2BEA-44AF-81FC-FD8BAC6F3FB3}"/>
              </a:ext>
            </a:extLst>
          </p:cNvPr>
          <p:cNvSpPr>
            <a:spLocks xmlns:a="http://schemas.openxmlformats.org/drawingml/2006/main" noGrp="1"/>
          </p:cNvSpPr>
          <p:nvPr/>
        </p:nvSpPr>
        <p:spPr>
          <a:xfrm xmlns:a="http://schemas.openxmlformats.org/drawingml/2006/main">
            <a:off x="7848600" y="3200400"/>
            <a:ext cx="3390900" cy="19050"/>
          </a:xfrm>
          <a:prstGeom xmlns:a="http://schemas.openxmlformats.org/drawingml/2006/main" prst="rect">
            <a:avLst/>
          </a:prstGeom>
          <a:solidFill xmlns:a="http://schemas.openxmlformats.org/drawingml/2006/main">
            <a:srgbClr val="D9D1C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480DF3A-DC33-4C16-A7CB-67B8429C33BF}"/>
              </a:ext>
            </a:extLst>
          </p:cNvPr>
          <p:cNvSpPr>
            <a:spLocks xmlns:a="http://schemas.openxmlformats.org/drawingml/2006/main" noGrp="1"/>
          </p:cNvSpPr>
          <p:nvPr/>
        </p:nvSpPr>
        <p:spPr>
          <a:xfrm xmlns:a="http://schemas.openxmlformats.org/drawingml/2006/main">
            <a:off x="7848600" y="34099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DF725B"/>
                </a:solidFill>
                <a:latin typeface="Arial"/>
                <a:ea typeface="Arial"/>
                <a:cs typeface="Arial"/>
              </a:defRPr>
            </a:pPr>
            <a:r>
              <a:rPr sz="1800" b="1">
                <a:solidFill>
                  <a:srgbClr val="DF725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1027FD4-32CC-4CBC-A37E-6129F03EC69D}"/>
              </a:ext>
            </a:extLst>
          </p:cNvPr>
          <p:cNvSpPr>
            <a:spLocks xmlns:a="http://schemas.openxmlformats.org/drawingml/2006/main" noGrp="1"/>
          </p:cNvSpPr>
          <p:nvPr/>
        </p:nvSpPr>
        <p:spPr>
          <a:xfrm xmlns:a="http://schemas.openxmlformats.org/drawingml/2006/main">
            <a:off x="8439150" y="3409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2B2621"/>
                </a:solidFill>
                <a:latin typeface="Arial"/>
                <a:ea typeface="Arial"/>
                <a:cs typeface="Arial"/>
              </a:defRPr>
            </a:pPr>
            <a:r>
              <a:rPr sz="1800" b="1">
                <a:solidFill>
                  <a:srgbClr val="2B2621"/>
                </a:solidFill>
                <a:latin typeface="Arial"/>
                <a:ea typeface="Arial"/>
                <a:cs typeface="Arial"/>
              </a:rPr>
              <a:t>Guided story</a:t>
            </a:r>
          </a:p>
        </p:txBody>
      </p:sp>
      <p:sp>
        <p:nvSpPr>
          <p:cNvPr id="10" name="">
            <a:extLst xmlns:a="http://schemas.openxmlformats.org/drawingml/2006/main">
              <a:ext uri="{FF2B5EF4-FFF2-40B4-BE49-F238E27FC236}">
                <a16:creationId xmlns:a16="http://schemas.microsoft.com/office/drawing/2014/main" id="{DF6ACC00-0EF5-462A-880F-7CDB27555F01}"/>
              </a:ext>
            </a:extLst>
          </p:cNvPr>
          <p:cNvSpPr>
            <a:spLocks xmlns:a="http://schemas.openxmlformats.org/drawingml/2006/main" noGrp="1"/>
          </p:cNvSpPr>
          <p:nvPr/>
        </p:nvSpPr>
        <p:spPr>
          <a:xfrm xmlns:a="http://schemas.openxmlformats.org/drawingml/2006/main">
            <a:off x="7848600" y="38100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F695F"/>
                </a:solidFill>
                <a:latin typeface="Arial"/>
                <a:ea typeface="Arial"/>
                <a:cs typeface="Arial"/>
              </a:defRPr>
            </a:pPr>
            <a:r>
              <a:rPr sz="1425" b="0">
                <a:solidFill>
                  <a:srgbClr val="6F695F"/>
                </a:solidFill>
                <a:latin typeface="Arial"/>
                <a:ea typeface="Arial"/>
                <a:cs typeface="Arial"/>
              </a:rPr>
              <a:t>Why PawRise → Features → How it works gives visitors a simple reading path.</a:t>
            </a:r>
          </a:p>
        </p:txBody>
      </p:sp>
      <p:sp>
        <p:nvSpPr>
          <p:cNvPr id="11" name="">
            <a:extLst xmlns:a="http://schemas.openxmlformats.org/drawingml/2006/main">
              <a:ext uri="{FF2B5EF4-FFF2-40B4-BE49-F238E27FC236}">
                <a16:creationId xmlns:a16="http://schemas.microsoft.com/office/drawing/2014/main" id="{8FC58DF5-B1C2-4845-A742-D1B3F0C63B1C}"/>
              </a:ext>
            </a:extLst>
          </p:cNvPr>
          <p:cNvSpPr>
            <a:spLocks xmlns:a="http://schemas.openxmlformats.org/drawingml/2006/main" noGrp="1"/>
          </p:cNvSpPr>
          <p:nvPr/>
        </p:nvSpPr>
        <p:spPr>
          <a:xfrm xmlns:a="http://schemas.openxmlformats.org/drawingml/2006/main">
            <a:off x="7848600" y="4686300"/>
            <a:ext cx="3390900" cy="19050"/>
          </a:xfrm>
          <a:prstGeom xmlns:a="http://schemas.openxmlformats.org/drawingml/2006/main" prst="rect">
            <a:avLst/>
          </a:prstGeom>
          <a:solidFill xmlns:a="http://schemas.openxmlformats.org/drawingml/2006/main">
            <a:srgbClr val="D9D1C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5D25D27-3688-49D5-8D1F-3ADAA8D7F838}"/>
              </a:ext>
            </a:extLst>
          </p:cNvPr>
          <p:cNvSpPr>
            <a:spLocks xmlns:a="http://schemas.openxmlformats.org/drawingml/2006/main" noGrp="1"/>
          </p:cNvSpPr>
          <p:nvPr/>
        </p:nvSpPr>
        <p:spPr>
          <a:xfrm xmlns:a="http://schemas.openxmlformats.org/drawingml/2006/main">
            <a:off x="7848600" y="4895850"/>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DF725B"/>
                </a:solidFill>
                <a:latin typeface="Arial"/>
                <a:ea typeface="Arial"/>
                <a:cs typeface="Arial"/>
              </a:defRPr>
            </a:pPr>
            <a:r>
              <a:rPr sz="1800" b="1">
                <a:solidFill>
                  <a:srgbClr val="DF725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1A378958-A4B5-4557-A28B-C968A36168D9}"/>
              </a:ext>
            </a:extLst>
          </p:cNvPr>
          <p:cNvSpPr>
            <a:spLocks xmlns:a="http://schemas.openxmlformats.org/drawingml/2006/main" noGrp="1"/>
          </p:cNvSpPr>
          <p:nvPr/>
        </p:nvSpPr>
        <p:spPr>
          <a:xfrm xmlns:a="http://schemas.openxmlformats.org/drawingml/2006/main">
            <a:off x="8439150" y="48958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11"/>
          </a:bodyPr>
          <a:lstStyle xmlns:a="http://schemas.openxmlformats.org/drawingml/2006/main"/>
          <a:p xmlns:a="http://schemas.openxmlformats.org/drawingml/2006/main">
            <a:pPr algn="l">
              <a:defRPr sz="1800" b="1">
                <a:solidFill>
                  <a:srgbClr val="2B2621"/>
                </a:solidFill>
                <a:latin typeface="Arial"/>
                <a:ea typeface="Arial"/>
                <a:cs typeface="Arial"/>
              </a:defRPr>
            </a:pPr>
            <a:r>
              <a:rPr sz="1800" b="1">
                <a:solidFill>
                  <a:srgbClr val="2B2621"/>
                </a:solidFill>
                <a:latin typeface="Arial"/>
                <a:ea typeface="Arial"/>
                <a:cs typeface="Arial"/>
              </a:rPr>
              <a:t>Action</a:t>
            </a:r>
          </a:p>
        </p:txBody>
      </p:sp>
      <p:sp>
        <p:nvSpPr>
          <p:cNvPr id="14" name="">
            <a:extLst xmlns:a="http://schemas.openxmlformats.org/drawingml/2006/main">
              <a:ext uri="{FF2B5EF4-FFF2-40B4-BE49-F238E27FC236}">
                <a16:creationId xmlns:a16="http://schemas.microsoft.com/office/drawing/2014/main" id="{F361A787-B789-4004-99E3-6FD2E37EB83D}"/>
              </a:ext>
            </a:extLst>
          </p:cNvPr>
          <p:cNvSpPr>
            <a:spLocks xmlns:a="http://schemas.openxmlformats.org/drawingml/2006/main" noGrp="1"/>
          </p:cNvSpPr>
          <p:nvPr/>
        </p:nvSpPr>
        <p:spPr>
          <a:xfrm xmlns:a="http://schemas.openxmlformats.org/drawingml/2006/main">
            <a:off x="7848600" y="5295900"/>
            <a:ext cx="3390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F695F"/>
                </a:solidFill>
                <a:latin typeface="Arial"/>
                <a:ea typeface="Arial"/>
                <a:cs typeface="Arial"/>
              </a:defRPr>
            </a:pPr>
            <a:r>
              <a:rPr sz="1425" b="0">
                <a:solidFill>
                  <a:srgbClr val="6F695F"/>
                </a:solidFill>
                <a:latin typeface="Arial"/>
                <a:ea typeface="Arial"/>
                <a:cs typeface="Arial"/>
              </a:rPr>
              <a:t>Log in and Get started convert the story into the product experience.</a:t>
            </a:r>
          </a:p>
        </p:txBody>
      </p:sp>
      <p:sp>
        <p:nvSpPr>
          <p:cNvPr id="15" name="">
            <a:extLst xmlns:a="http://schemas.openxmlformats.org/drawingml/2006/main">
              <a:ext uri="{FF2B5EF4-FFF2-40B4-BE49-F238E27FC236}">
                <a16:creationId xmlns:a16="http://schemas.microsoft.com/office/drawing/2014/main" id="{81CA595D-98F8-4545-A61C-B0649009BCC8}"/>
              </a:ext>
            </a:extLst>
          </p:cNvPr>
          <p:cNvSpPr>
            <a:spLocks xmlns:a="http://schemas.openxmlformats.org/drawingml/2006/main" noGrp="1"/>
          </p:cNvSpPr>
          <p:nvPr/>
        </p:nvSpPr>
        <p:spPr>
          <a:xfrm xmlns:a="http://schemas.openxmlformats.org/drawingml/2006/main">
            <a:off x="609600" y="64865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6F695F"/>
                </a:solidFill>
                <a:latin typeface="Arial"/>
                <a:ea typeface="Arial"/>
                <a:cs typeface="Arial"/>
              </a:defRPr>
            </a:pPr>
            <a:r>
              <a:rPr sz="825" b="0">
                <a:solidFill>
                  <a:srgbClr val="6F695F"/>
                </a:solidFill>
                <a:latin typeface="Arial"/>
                <a:ea typeface="Arial"/>
                <a:cs typeface="Arial"/>
              </a:rPr>
              <a:t>PAWRISE  •  MILESTONE 4</a:t>
            </a:r>
          </a:p>
        </p:txBody>
      </p:sp>
      <p:sp>
        <p:nvSpPr>
          <p:cNvPr id="16" name="">
            <a:extLst xmlns:a="http://schemas.openxmlformats.org/drawingml/2006/main">
              <a:ext uri="{FF2B5EF4-FFF2-40B4-BE49-F238E27FC236}">
                <a16:creationId xmlns:a16="http://schemas.microsoft.com/office/drawing/2014/main" id="{9372EEFE-5077-4ECA-9944-DB5C52E49612}"/>
              </a:ext>
            </a:extLst>
          </p:cNvPr>
          <p:cNvSpPr>
            <a:spLocks xmlns:a="http://schemas.openxmlformats.org/drawingml/2006/main" noGrp="1"/>
          </p:cNvSpPr>
          <p:nvPr/>
        </p:nvSpPr>
        <p:spPr>
          <a:xfrm xmlns:a="http://schemas.openxmlformats.org/drawingml/2006/main">
            <a:off x="11239500" y="64865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a:solidFill>
                  <a:srgbClr val="6F695F"/>
                </a:solidFill>
                <a:latin typeface="Arial"/>
                <a:ea typeface="Arial"/>
                <a:cs typeface="Arial"/>
              </a:defRPr>
            </a:pPr>
            <a:r>
              <a:rPr sz="825" b="0">
                <a:solidFill>
                  <a:srgbClr val="6F695F"/>
                </a:solidFill>
                <a:latin typeface="Arial"/>
                <a:ea typeface="Arial"/>
                <a:cs typeface="Arial"/>
              </a:rPr>
              <a:t>3</a:t>
            </a:r>
          </a:p>
        </p:txBody>
      </p:sp>
    </p:spTree>
    <p:extLst>
      <p:ext uri="{BB962C8B-B14F-4D97-AF65-F5344CB8AC3E}">
        <p14:creationId xmlns:p14="http://schemas.microsoft.com/office/powerpoint/2010/main" val="1204813496"/>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31" name="section-kicker">
            <a:extLst xmlns:a="http://schemas.openxmlformats.org/drawingml/2006/main">
              <a:ext uri="{FF2B5EF4-FFF2-40B4-BE49-F238E27FC236}">
                <a16:creationId xmlns:a16="http://schemas.microsoft.com/office/drawing/2014/main" id="{45C4FB1C-FFC4-45B4-9051-F8731399A183}"/>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587257"/>
                </a:solidFill>
                <a:latin typeface="Arial"/>
                <a:ea typeface="Arial"/>
                <a:cs typeface="Arial"/>
              </a:defRPr>
            </a:pPr>
            <a:r>
              <a:rPr sz="1200" b="1">
                <a:solidFill>
                  <a:srgbClr val="587257"/>
                </a:solidFill>
                <a:latin typeface="Arial"/>
                <a:ea typeface="Arial"/>
                <a:cs typeface="Arial"/>
              </a:rPr>
              <a:t>HIGH-LEVEL ARCHITECTURE</a:t>
            </a:r>
          </a:p>
        </p:txBody>
      </p:sp>
      <p:sp>
        <p:nvSpPr>
          <p:cNvPr id="2" name="">
            <a:extLst xmlns:a="http://schemas.openxmlformats.org/drawingml/2006/main">
              <a:ext uri="{FF2B5EF4-FFF2-40B4-BE49-F238E27FC236}">
                <a16:creationId xmlns:a16="http://schemas.microsoft.com/office/drawing/2014/main" id="{8019C0F0-98A3-442B-9745-C7F1E8724DD4}"/>
              </a:ext>
            </a:extLst>
          </p:cNvPr>
          <p:cNvSpPr>
            <a:spLocks xmlns:a="http://schemas.openxmlformats.org/drawingml/2006/main" noGrp="1"/>
          </p:cNvSpPr>
          <p:nvPr/>
        </p:nvSpPr>
        <p:spPr>
          <a:xfrm xmlns:a="http://schemas.openxmlformats.org/drawingml/2006/main">
            <a:off x="609600" y="781050"/>
            <a:ext cx="895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2B2621"/>
                </a:solidFill>
                <a:latin typeface="Georgia"/>
                <a:ea typeface="Georgia"/>
                <a:cs typeface="Georgia"/>
              </a:defRPr>
            </a:pPr>
            <a:r>
              <a:rPr sz="2925" b="1">
                <a:solidFill>
                  <a:srgbClr val="2B2621"/>
                </a:solidFill>
                <a:latin typeface="Georgia"/>
                <a:ea typeface="Georgia"/>
                <a:cs typeface="Georgia"/>
              </a:rPr>
              <a:t>A React frontend connects to a secure Flask API</a:t>
            </a:r>
          </a:p>
        </p:txBody>
      </p:sp>
      <p:sp>
        <p:nvSpPr>
          <p:cNvPr id="3" name="">
            <a:extLst xmlns:a="http://schemas.openxmlformats.org/drawingml/2006/main">
              <a:ext uri="{FF2B5EF4-FFF2-40B4-BE49-F238E27FC236}">
                <a16:creationId xmlns:a16="http://schemas.microsoft.com/office/drawing/2014/main" id="{792B5BFA-1F21-471B-9D2D-D0285B792FD7}"/>
              </a:ext>
            </a:extLst>
          </p:cNvPr>
          <p:cNvSpPr>
            <a:spLocks xmlns:a="http://schemas.openxmlformats.org/drawingml/2006/main" noGrp="1"/>
          </p:cNvSpPr>
          <p:nvPr/>
        </p:nvSpPr>
        <p:spPr>
          <a:xfrm xmlns:a="http://schemas.openxmlformats.org/drawingml/2006/main">
            <a:off x="2857500" y="2543175"/>
            <a:ext cx="685800" cy="342900"/>
          </a:xfrm>
          <a:prstGeom xmlns:a="http://schemas.openxmlformats.org/drawingml/2006/main" prst="rightArrow">
            <a:avLst/>
          </a:prstGeom>
          <a:solidFill xmlns:a="http://schemas.openxmlformats.org/drawingml/2006/main">
            <a:srgbClr val="DF725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1C853C-0F55-4BF5-9CDF-17EA0C651DB6}"/>
              </a:ext>
            </a:extLst>
          </p:cNvPr>
          <p:cNvSpPr>
            <a:spLocks xmlns:a="http://schemas.openxmlformats.org/drawingml/2006/main" noGrp="1"/>
          </p:cNvSpPr>
          <p:nvPr/>
        </p:nvSpPr>
        <p:spPr>
          <a:xfrm xmlns:a="http://schemas.openxmlformats.org/drawingml/2006/main">
            <a:off x="5886450" y="2543175"/>
            <a:ext cx="685800" cy="342900"/>
          </a:xfrm>
          <a:prstGeom xmlns:a="http://schemas.openxmlformats.org/drawingml/2006/main" prst="rightArrow">
            <a:avLst/>
          </a:prstGeom>
          <a:solidFill xmlns:a="http://schemas.openxmlformats.org/drawingml/2006/main">
            <a:srgbClr val="DF72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5212A3-A960-4CC9-AC30-35DAE99744A5}"/>
              </a:ext>
            </a:extLst>
          </p:cNvPr>
          <p:cNvSpPr>
            <a:spLocks xmlns:a="http://schemas.openxmlformats.org/drawingml/2006/main" noGrp="1"/>
          </p:cNvSpPr>
          <p:nvPr/>
        </p:nvSpPr>
        <p:spPr>
          <a:xfrm xmlns:a="http://schemas.openxmlformats.org/drawingml/2006/main">
            <a:off x="8915400" y="2543175"/>
            <a:ext cx="685800" cy="342900"/>
          </a:xfrm>
          <a:prstGeom xmlns:a="http://schemas.openxmlformats.org/drawingml/2006/main" prst="rightArrow">
            <a:avLst/>
          </a:prstGeom>
          <a:solidFill xmlns:a="http://schemas.openxmlformats.org/drawingml/2006/main">
            <a:srgbClr val="DF725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A1FF80-97DC-406D-BC5D-3B50A7507254}"/>
              </a:ext>
            </a:extLst>
          </p:cNvPr>
          <p:cNvSpPr>
            <a:spLocks xmlns:a="http://schemas.openxmlformats.org/drawingml/2006/main" noGrp="1"/>
          </p:cNvSpPr>
          <p:nvPr/>
        </p:nvSpPr>
        <p:spPr>
          <a:xfrm xmlns:a="http://schemas.openxmlformats.org/drawingml/2006/main">
            <a:off x="6705600" y="3914775"/>
            <a:ext cx="323850" cy="628650"/>
          </a:xfrm>
          <a:prstGeom xmlns:a="http://schemas.openxmlformats.org/drawingml/2006/main" prst="downArrow">
            <a:avLst/>
          </a:prstGeom>
          <a:solidFill xmlns:a="http://schemas.openxmlformats.org/drawingml/2006/main">
            <a:srgbClr val="58725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E26140-9C7E-4D1F-9286-DCBA5827C169}"/>
              </a:ext>
            </a:extLst>
          </p:cNvPr>
          <p:cNvSpPr>
            <a:spLocks xmlns:a="http://schemas.openxmlformats.org/drawingml/2006/main" noGrp="1"/>
          </p:cNvSpPr>
          <p:nvPr/>
        </p:nvSpPr>
        <p:spPr>
          <a:xfrm xmlns:a="http://schemas.openxmlformats.org/drawingml/2006/main">
            <a:off x="609600" y="1952625"/>
            <a:ext cx="2247900" cy="1905000"/>
          </a:xfrm>
          <a:prstGeom xmlns:a="http://schemas.openxmlformats.org/drawingml/2006/main" prst="roundRect">
            <a:avLst>
              <a:gd name="adj" fmla="val 10000"/>
            </a:avLst>
          </a:prstGeom>
          <a:solidFill xmlns:a="http://schemas.openxmlformats.org/drawingml/2006/main">
            <a:srgbClr val="E6EEE3"/>
          </a:solidFill>
          <a:ln xmlns:a="http://schemas.openxmlformats.org/drawingml/2006/main" w="9525">
            <a:solidFill>
              <a:srgbClr val="D9D1C6"/>
            </a:solidFill>
            <a:prstDash val="solid"/>
          </a:ln>
        </p:spPr>
      </p:sp>
      <p:sp>
        <p:nvSpPr>
          <p:cNvPr id="8" name="">
            <a:extLst xmlns:a="http://schemas.openxmlformats.org/drawingml/2006/main">
              <a:ext uri="{FF2B5EF4-FFF2-40B4-BE49-F238E27FC236}">
                <a16:creationId xmlns:a16="http://schemas.microsoft.com/office/drawing/2014/main" id="{75D684B5-3FF7-4B09-A739-D66C9E7C247F}"/>
              </a:ext>
            </a:extLst>
          </p:cNvPr>
          <p:cNvSpPr>
            <a:spLocks xmlns:a="http://schemas.openxmlformats.org/drawingml/2006/main" noGrp="1"/>
          </p:cNvSpPr>
          <p:nvPr/>
        </p:nvSpPr>
        <p:spPr>
          <a:xfrm xmlns:a="http://schemas.openxmlformats.org/drawingml/2006/main">
            <a:off x="838200" y="21907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F695F"/>
                </a:solidFill>
                <a:latin typeface="Arial"/>
                <a:ea typeface="Arial"/>
                <a:cs typeface="Arial"/>
              </a:defRPr>
            </a:pPr>
            <a:r>
              <a:rPr sz="1050" b="1">
                <a:solidFill>
                  <a:srgbClr val="6F695F"/>
                </a:solidFill>
                <a:latin typeface="Arial"/>
                <a:ea typeface="Arial"/>
                <a:cs typeface="Arial"/>
              </a:rPr>
              <a:t>USER</a:t>
            </a:r>
          </a:p>
        </p:txBody>
      </p:sp>
      <p:sp>
        <p:nvSpPr>
          <p:cNvPr id="9" name="">
            <a:extLst xmlns:a="http://schemas.openxmlformats.org/drawingml/2006/main">
              <a:ext uri="{FF2B5EF4-FFF2-40B4-BE49-F238E27FC236}">
                <a16:creationId xmlns:a16="http://schemas.microsoft.com/office/drawing/2014/main" id="{79FA57C5-D784-4318-B829-8E60578CB825}"/>
              </a:ext>
            </a:extLst>
          </p:cNvPr>
          <p:cNvSpPr>
            <a:spLocks xmlns:a="http://schemas.openxmlformats.org/drawingml/2006/main" noGrp="1"/>
          </p:cNvSpPr>
          <p:nvPr/>
        </p:nvSpPr>
        <p:spPr>
          <a:xfrm xmlns:a="http://schemas.openxmlformats.org/drawingml/2006/main">
            <a:off x="838200" y="25717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2B2621"/>
                </a:solidFill>
                <a:latin typeface="Arial"/>
                <a:ea typeface="Arial"/>
                <a:cs typeface="Arial"/>
              </a:defRPr>
            </a:pPr>
            <a:r>
              <a:rPr sz="2025" b="1">
                <a:solidFill>
                  <a:srgbClr val="2B2621"/>
                </a:solidFill>
                <a:latin typeface="Arial"/>
                <a:ea typeface="Arial"/>
                <a:cs typeface="Arial"/>
              </a:rPr>
              <a:t>Browser</a:t>
            </a:r>
          </a:p>
        </p:txBody>
      </p:sp>
      <p:sp>
        <p:nvSpPr>
          <p:cNvPr id="10" name="">
            <a:extLst xmlns:a="http://schemas.openxmlformats.org/drawingml/2006/main">
              <a:ext uri="{FF2B5EF4-FFF2-40B4-BE49-F238E27FC236}">
                <a16:creationId xmlns:a16="http://schemas.microsoft.com/office/drawing/2014/main" id="{0E42D5D7-5222-4C8B-A5E3-959C114F73A7}"/>
              </a:ext>
            </a:extLst>
          </p:cNvPr>
          <p:cNvSpPr>
            <a:spLocks xmlns:a="http://schemas.openxmlformats.org/drawingml/2006/main" noGrp="1"/>
          </p:cNvSpPr>
          <p:nvPr/>
        </p:nvSpPr>
        <p:spPr>
          <a:xfrm xmlns:a="http://schemas.openxmlformats.org/drawingml/2006/main">
            <a:off x="838200" y="320040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F695F"/>
                </a:solidFill>
                <a:latin typeface="Arial"/>
                <a:ea typeface="Arial"/>
                <a:cs typeface="Arial"/>
              </a:defRPr>
            </a:pPr>
            <a:r>
              <a:rPr sz="1275" b="0">
                <a:solidFill>
                  <a:srgbClr val="6F695F"/>
                </a:solidFill>
                <a:latin typeface="Arial"/>
                <a:ea typeface="Arial"/>
                <a:cs typeface="Arial"/>
              </a:rPr>
              <a:t>Homepage + app UI</a:t>
            </a:r>
          </a:p>
        </p:txBody>
      </p:sp>
      <p:sp>
        <p:nvSpPr>
          <p:cNvPr id="11" name="">
            <a:extLst xmlns:a="http://schemas.openxmlformats.org/drawingml/2006/main">
              <a:ext uri="{FF2B5EF4-FFF2-40B4-BE49-F238E27FC236}">
                <a16:creationId xmlns:a16="http://schemas.microsoft.com/office/drawing/2014/main" id="{6F7B7996-1589-41FB-8E2F-C420F7BDB161}"/>
              </a:ext>
            </a:extLst>
          </p:cNvPr>
          <p:cNvSpPr>
            <a:spLocks xmlns:a="http://schemas.openxmlformats.org/drawingml/2006/main" noGrp="1"/>
          </p:cNvSpPr>
          <p:nvPr/>
        </p:nvSpPr>
        <p:spPr>
          <a:xfrm xmlns:a="http://schemas.openxmlformats.org/drawingml/2006/main">
            <a:off x="3543300" y="1952625"/>
            <a:ext cx="2343150" cy="1905000"/>
          </a:xfrm>
          <a:prstGeom xmlns:a="http://schemas.openxmlformats.org/drawingml/2006/main" prst="roundRect">
            <a:avLst>
              <a:gd name="adj" fmla="val 10000"/>
            </a:avLst>
          </a:prstGeom>
          <a:solidFill xmlns:a="http://schemas.openxmlformats.org/drawingml/2006/main">
            <a:srgbClr val="F7E4DE"/>
          </a:solidFill>
          <a:ln xmlns:a="http://schemas.openxmlformats.org/drawingml/2006/main" w="9525">
            <a:solidFill>
              <a:srgbClr val="D9D1C6"/>
            </a:solidFill>
            <a:prstDash val="solid"/>
          </a:ln>
        </p:spPr>
      </p:sp>
      <p:sp>
        <p:nvSpPr>
          <p:cNvPr id="12" name="">
            <a:extLst xmlns:a="http://schemas.openxmlformats.org/drawingml/2006/main">
              <a:ext uri="{FF2B5EF4-FFF2-40B4-BE49-F238E27FC236}">
                <a16:creationId xmlns:a16="http://schemas.microsoft.com/office/drawing/2014/main" id="{6DB029FB-1F8D-4164-A83C-8B7DFA48A739}"/>
              </a:ext>
            </a:extLst>
          </p:cNvPr>
          <p:cNvSpPr>
            <a:spLocks xmlns:a="http://schemas.openxmlformats.org/drawingml/2006/main" noGrp="1"/>
          </p:cNvSpPr>
          <p:nvPr/>
        </p:nvSpPr>
        <p:spPr>
          <a:xfrm xmlns:a="http://schemas.openxmlformats.org/drawingml/2006/main">
            <a:off x="3771900" y="21907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F695F"/>
                </a:solidFill>
                <a:latin typeface="Arial"/>
                <a:ea typeface="Arial"/>
                <a:cs typeface="Arial"/>
              </a:defRPr>
            </a:pPr>
            <a:r>
              <a:rPr sz="1050" b="1">
                <a:solidFill>
                  <a:srgbClr val="6F695F"/>
                </a:solidFill>
                <a:latin typeface="Arial"/>
                <a:ea typeface="Arial"/>
                <a:cs typeface="Arial"/>
              </a:rPr>
              <a:t>FRONTEND</a:t>
            </a:r>
          </a:p>
        </p:txBody>
      </p:sp>
      <p:sp>
        <p:nvSpPr>
          <p:cNvPr id="13" name="">
            <a:extLst xmlns:a="http://schemas.openxmlformats.org/drawingml/2006/main">
              <a:ext uri="{FF2B5EF4-FFF2-40B4-BE49-F238E27FC236}">
                <a16:creationId xmlns:a16="http://schemas.microsoft.com/office/drawing/2014/main" id="{B5965DF9-553E-49F7-A00E-FA0A6C721589}"/>
              </a:ext>
            </a:extLst>
          </p:cNvPr>
          <p:cNvSpPr>
            <a:spLocks xmlns:a="http://schemas.openxmlformats.org/drawingml/2006/main" noGrp="1"/>
          </p:cNvSpPr>
          <p:nvPr/>
        </p:nvSpPr>
        <p:spPr>
          <a:xfrm xmlns:a="http://schemas.openxmlformats.org/drawingml/2006/main">
            <a:off x="3771900" y="2571750"/>
            <a:ext cx="1885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2B2621"/>
                </a:solidFill>
                <a:latin typeface="Arial"/>
                <a:ea typeface="Arial"/>
                <a:cs typeface="Arial"/>
              </a:defRPr>
            </a:pPr>
            <a:r>
              <a:rPr sz="2025" b="1">
                <a:solidFill>
                  <a:srgbClr val="2B2621"/>
                </a:solidFill>
                <a:latin typeface="Arial"/>
                <a:ea typeface="Arial"/>
                <a:cs typeface="Arial"/>
              </a:rPr>
              <a:t>React + Vite</a:t>
            </a:r>
          </a:p>
        </p:txBody>
      </p:sp>
      <p:sp>
        <p:nvSpPr>
          <p:cNvPr id="14" name="">
            <a:extLst xmlns:a="http://schemas.openxmlformats.org/drawingml/2006/main">
              <a:ext uri="{FF2B5EF4-FFF2-40B4-BE49-F238E27FC236}">
                <a16:creationId xmlns:a16="http://schemas.microsoft.com/office/drawing/2014/main" id="{CCED6F29-93D3-48F8-9D76-6CBF6395AA08}"/>
              </a:ext>
            </a:extLst>
          </p:cNvPr>
          <p:cNvSpPr>
            <a:spLocks xmlns:a="http://schemas.openxmlformats.org/drawingml/2006/main" noGrp="1"/>
          </p:cNvSpPr>
          <p:nvPr/>
        </p:nvSpPr>
        <p:spPr>
          <a:xfrm xmlns:a="http://schemas.openxmlformats.org/drawingml/2006/main">
            <a:off x="3771900" y="3200400"/>
            <a:ext cx="1885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F695F"/>
                </a:solidFill>
                <a:latin typeface="Arial"/>
                <a:ea typeface="Arial"/>
                <a:cs typeface="Arial"/>
              </a:defRPr>
            </a:pPr>
            <a:r>
              <a:rPr sz="1275" b="0">
                <a:solidFill>
                  <a:srgbClr val="6F695F"/>
                </a:solidFill>
                <a:latin typeface="Arial"/>
                <a:ea typeface="Arial"/>
                <a:cs typeface="Arial"/>
              </a:rPr>
              <a:t>Responsive interface</a:t>
            </a:r>
          </a:p>
        </p:txBody>
      </p:sp>
      <p:sp>
        <p:nvSpPr>
          <p:cNvPr id="15" name="">
            <a:extLst xmlns:a="http://schemas.openxmlformats.org/drawingml/2006/main">
              <a:ext uri="{FF2B5EF4-FFF2-40B4-BE49-F238E27FC236}">
                <a16:creationId xmlns:a16="http://schemas.microsoft.com/office/drawing/2014/main" id="{82F39116-4142-440C-A644-7271B554C636}"/>
              </a:ext>
            </a:extLst>
          </p:cNvPr>
          <p:cNvSpPr>
            <a:spLocks xmlns:a="http://schemas.openxmlformats.org/drawingml/2006/main" noGrp="1"/>
          </p:cNvSpPr>
          <p:nvPr/>
        </p:nvSpPr>
        <p:spPr>
          <a:xfrm xmlns:a="http://schemas.openxmlformats.org/drawingml/2006/main">
            <a:off x="6572250" y="1952625"/>
            <a:ext cx="2343150" cy="1905000"/>
          </a:xfrm>
          <a:prstGeom xmlns:a="http://schemas.openxmlformats.org/drawingml/2006/main" prst="roundRect">
            <a:avLst>
              <a:gd name="adj" fmla="val 10000"/>
            </a:avLst>
          </a:prstGeom>
          <a:solidFill xmlns:a="http://schemas.openxmlformats.org/drawingml/2006/main">
            <a:srgbClr val="E6EEE3"/>
          </a:solidFill>
          <a:ln xmlns:a="http://schemas.openxmlformats.org/drawingml/2006/main" w="9525">
            <a:solidFill>
              <a:srgbClr val="D9D1C6"/>
            </a:solidFill>
            <a:prstDash val="solid"/>
          </a:ln>
        </p:spPr>
      </p:sp>
      <p:sp>
        <p:nvSpPr>
          <p:cNvPr id="16" name="">
            <a:extLst xmlns:a="http://schemas.openxmlformats.org/drawingml/2006/main">
              <a:ext uri="{FF2B5EF4-FFF2-40B4-BE49-F238E27FC236}">
                <a16:creationId xmlns:a16="http://schemas.microsoft.com/office/drawing/2014/main" id="{67705876-AAF1-430C-9D05-32F6BD541B59}"/>
              </a:ext>
            </a:extLst>
          </p:cNvPr>
          <p:cNvSpPr>
            <a:spLocks xmlns:a="http://schemas.openxmlformats.org/drawingml/2006/main" noGrp="1"/>
          </p:cNvSpPr>
          <p:nvPr/>
        </p:nvSpPr>
        <p:spPr>
          <a:xfrm xmlns:a="http://schemas.openxmlformats.org/drawingml/2006/main">
            <a:off x="6800850" y="21907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F695F"/>
                </a:solidFill>
                <a:latin typeface="Arial"/>
                <a:ea typeface="Arial"/>
                <a:cs typeface="Arial"/>
              </a:defRPr>
            </a:pPr>
            <a:r>
              <a:rPr sz="1050" b="1">
                <a:solidFill>
                  <a:srgbClr val="6F695F"/>
                </a:solidFill>
                <a:latin typeface="Arial"/>
                <a:ea typeface="Arial"/>
                <a:cs typeface="Arial"/>
              </a:rPr>
              <a:t>BACKEND</a:t>
            </a:r>
          </a:p>
        </p:txBody>
      </p:sp>
      <p:sp>
        <p:nvSpPr>
          <p:cNvPr id="17" name="">
            <a:extLst xmlns:a="http://schemas.openxmlformats.org/drawingml/2006/main">
              <a:ext uri="{FF2B5EF4-FFF2-40B4-BE49-F238E27FC236}">
                <a16:creationId xmlns:a16="http://schemas.microsoft.com/office/drawing/2014/main" id="{EC2B1F9A-7ECE-4206-A82E-95F1ABFD8521}"/>
              </a:ext>
            </a:extLst>
          </p:cNvPr>
          <p:cNvSpPr>
            <a:spLocks xmlns:a="http://schemas.openxmlformats.org/drawingml/2006/main" noGrp="1"/>
          </p:cNvSpPr>
          <p:nvPr/>
        </p:nvSpPr>
        <p:spPr>
          <a:xfrm xmlns:a="http://schemas.openxmlformats.org/drawingml/2006/main">
            <a:off x="6800850" y="2571750"/>
            <a:ext cx="1885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302"/>
          </a:bodyPr>
          <a:lstStyle xmlns:a="http://schemas.openxmlformats.org/drawingml/2006/main"/>
          <a:p xmlns:a="http://schemas.openxmlformats.org/drawingml/2006/main">
            <a:pPr algn="l">
              <a:defRPr sz="2025" b="1">
                <a:solidFill>
                  <a:srgbClr val="2B2621"/>
                </a:solidFill>
                <a:latin typeface="Arial"/>
                <a:ea typeface="Arial"/>
                <a:cs typeface="Arial"/>
              </a:defRPr>
            </a:pPr>
            <a:r>
              <a:rPr sz="2025" b="1">
                <a:solidFill>
                  <a:srgbClr val="2B2621"/>
                </a:solidFill>
                <a:latin typeface="Arial"/>
                <a:ea typeface="Arial"/>
                <a:cs typeface="Arial"/>
              </a:rPr>
              <a:t>Flask REST API</a:t>
            </a:r>
          </a:p>
        </p:txBody>
      </p:sp>
      <p:sp>
        <p:nvSpPr>
          <p:cNvPr id="18" name="">
            <a:extLst xmlns:a="http://schemas.openxmlformats.org/drawingml/2006/main">
              <a:ext uri="{FF2B5EF4-FFF2-40B4-BE49-F238E27FC236}">
                <a16:creationId xmlns:a16="http://schemas.microsoft.com/office/drawing/2014/main" id="{A14A2A1F-F5C1-4226-89A8-E37CE1516B30}"/>
              </a:ext>
            </a:extLst>
          </p:cNvPr>
          <p:cNvSpPr>
            <a:spLocks xmlns:a="http://schemas.openxmlformats.org/drawingml/2006/main" noGrp="1"/>
          </p:cNvSpPr>
          <p:nvPr/>
        </p:nvSpPr>
        <p:spPr>
          <a:xfrm xmlns:a="http://schemas.openxmlformats.org/drawingml/2006/main">
            <a:off x="6800850" y="3200400"/>
            <a:ext cx="1885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F695F"/>
                </a:solidFill>
                <a:latin typeface="Arial"/>
                <a:ea typeface="Arial"/>
                <a:cs typeface="Arial"/>
              </a:defRPr>
            </a:pPr>
            <a:r>
              <a:rPr sz="1275" b="0">
                <a:solidFill>
                  <a:srgbClr val="6F695F"/>
                </a:solidFill>
                <a:latin typeface="Arial"/>
                <a:ea typeface="Arial"/>
                <a:cs typeface="Arial"/>
              </a:rPr>
              <a:t>JWT + business rules</a:t>
            </a:r>
          </a:p>
        </p:txBody>
      </p:sp>
      <p:sp>
        <p:nvSpPr>
          <p:cNvPr id="19" name="">
            <a:extLst xmlns:a="http://schemas.openxmlformats.org/drawingml/2006/main">
              <a:ext uri="{FF2B5EF4-FFF2-40B4-BE49-F238E27FC236}">
                <a16:creationId xmlns:a16="http://schemas.microsoft.com/office/drawing/2014/main" id="{AA62F79B-8E15-4C53-B51B-AE7E8BBB6D0E}"/>
              </a:ext>
            </a:extLst>
          </p:cNvPr>
          <p:cNvSpPr>
            <a:spLocks xmlns:a="http://schemas.openxmlformats.org/drawingml/2006/main" noGrp="1"/>
          </p:cNvSpPr>
          <p:nvPr/>
        </p:nvSpPr>
        <p:spPr>
          <a:xfrm xmlns:a="http://schemas.openxmlformats.org/drawingml/2006/main">
            <a:off x="9601200" y="1952625"/>
            <a:ext cx="1981200" cy="1905000"/>
          </a:xfrm>
          <a:prstGeom xmlns:a="http://schemas.openxmlformats.org/drawingml/2006/main" prst="roundRect">
            <a:avLst>
              <a:gd name="adj" fmla="val 10000"/>
            </a:avLst>
          </a:prstGeom>
          <a:solidFill xmlns:a="http://schemas.openxmlformats.org/drawingml/2006/main">
            <a:srgbClr val="F7E4DE"/>
          </a:solidFill>
          <a:ln xmlns:a="http://schemas.openxmlformats.org/drawingml/2006/main" w="9525">
            <a:solidFill>
              <a:srgbClr val="D9D1C6"/>
            </a:solidFill>
            <a:prstDash val="solid"/>
          </a:ln>
        </p:spPr>
      </p:sp>
      <p:sp>
        <p:nvSpPr>
          <p:cNvPr id="20" name="">
            <a:extLst xmlns:a="http://schemas.openxmlformats.org/drawingml/2006/main">
              <a:ext uri="{FF2B5EF4-FFF2-40B4-BE49-F238E27FC236}">
                <a16:creationId xmlns:a16="http://schemas.microsoft.com/office/drawing/2014/main" id="{952C41DF-A7DB-475B-88A4-A2E4D1B6CB7E}"/>
              </a:ext>
            </a:extLst>
          </p:cNvPr>
          <p:cNvSpPr>
            <a:spLocks xmlns:a="http://schemas.openxmlformats.org/drawingml/2006/main" noGrp="1"/>
          </p:cNvSpPr>
          <p:nvPr/>
        </p:nvSpPr>
        <p:spPr>
          <a:xfrm xmlns:a="http://schemas.openxmlformats.org/drawingml/2006/main">
            <a:off x="9829800" y="2190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6F695F"/>
                </a:solidFill>
                <a:latin typeface="Arial"/>
                <a:ea typeface="Arial"/>
                <a:cs typeface="Arial"/>
              </a:defRPr>
            </a:pPr>
            <a:r>
              <a:rPr sz="1050" b="1">
                <a:solidFill>
                  <a:srgbClr val="6F695F"/>
                </a:solidFill>
                <a:latin typeface="Arial"/>
                <a:ea typeface="Arial"/>
                <a:cs typeface="Arial"/>
              </a:rPr>
              <a:t>DATA</a:t>
            </a:r>
          </a:p>
        </p:txBody>
      </p:sp>
      <p:sp>
        <p:nvSpPr>
          <p:cNvPr id="21" name="">
            <a:extLst xmlns:a="http://schemas.openxmlformats.org/drawingml/2006/main">
              <a:ext uri="{FF2B5EF4-FFF2-40B4-BE49-F238E27FC236}">
                <a16:creationId xmlns:a16="http://schemas.microsoft.com/office/drawing/2014/main" id="{7AE051BE-14F1-4412-9054-129B9A5BA73E}"/>
              </a:ext>
            </a:extLst>
          </p:cNvPr>
          <p:cNvSpPr>
            <a:spLocks xmlns:a="http://schemas.openxmlformats.org/drawingml/2006/main" noGrp="1"/>
          </p:cNvSpPr>
          <p:nvPr/>
        </p:nvSpPr>
        <p:spPr>
          <a:xfrm xmlns:a="http://schemas.openxmlformats.org/drawingml/2006/main">
            <a:off x="9829800" y="2571750"/>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2B2621"/>
                </a:solidFill>
                <a:latin typeface="Arial"/>
                <a:ea typeface="Arial"/>
                <a:cs typeface="Arial"/>
              </a:defRPr>
            </a:pPr>
            <a:r>
              <a:rPr sz="2025" b="1">
                <a:solidFill>
                  <a:srgbClr val="2B2621"/>
                </a:solidFill>
                <a:latin typeface="Arial"/>
                <a:ea typeface="Arial"/>
                <a:cs typeface="Arial"/>
              </a:rPr>
              <a:t>SQLite</a:t>
            </a:r>
          </a:p>
        </p:txBody>
      </p:sp>
      <p:sp>
        <p:nvSpPr>
          <p:cNvPr id="22" name="">
            <a:extLst xmlns:a="http://schemas.openxmlformats.org/drawingml/2006/main">
              <a:ext uri="{FF2B5EF4-FFF2-40B4-BE49-F238E27FC236}">
                <a16:creationId xmlns:a16="http://schemas.microsoft.com/office/drawing/2014/main" id="{2C2CFD9B-1D0E-4D63-A7D3-DC98BE8F3A82}"/>
              </a:ext>
            </a:extLst>
          </p:cNvPr>
          <p:cNvSpPr>
            <a:spLocks xmlns:a="http://schemas.openxmlformats.org/drawingml/2006/main" noGrp="1"/>
          </p:cNvSpPr>
          <p:nvPr/>
        </p:nvSpPr>
        <p:spPr>
          <a:xfrm xmlns:a="http://schemas.openxmlformats.org/drawingml/2006/main">
            <a:off x="9829800" y="32004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768"/>
          </a:bodyPr>
          <a:lstStyle xmlns:a="http://schemas.openxmlformats.org/drawingml/2006/main"/>
          <a:p xmlns:a="http://schemas.openxmlformats.org/drawingml/2006/main">
            <a:pPr algn="l">
              <a:defRPr sz="1275" b="0">
                <a:solidFill>
                  <a:srgbClr val="6F695F"/>
                </a:solidFill>
                <a:latin typeface="Arial"/>
                <a:ea typeface="Arial"/>
                <a:cs typeface="Arial"/>
              </a:defRPr>
            </a:pPr>
            <a:r>
              <a:rPr sz="1275" b="0">
                <a:solidFill>
                  <a:srgbClr val="6F695F"/>
                </a:solidFill>
                <a:latin typeface="Arial"/>
                <a:ea typeface="Arial"/>
                <a:cs typeface="Arial"/>
              </a:rPr>
              <a:t>SQLAlchemy + files</a:t>
            </a:r>
          </a:p>
        </p:txBody>
      </p:sp>
      <p:sp>
        <p:nvSpPr>
          <p:cNvPr id="23" name="">
            <a:extLst xmlns:a="http://schemas.openxmlformats.org/drawingml/2006/main">
              <a:ext uri="{FF2B5EF4-FFF2-40B4-BE49-F238E27FC236}">
                <a16:creationId xmlns:a16="http://schemas.microsoft.com/office/drawing/2014/main" id="{34E4A506-C565-434D-AC30-EC55B45827C7}"/>
              </a:ext>
            </a:extLst>
          </p:cNvPr>
          <p:cNvSpPr>
            <a:spLocks xmlns:a="http://schemas.openxmlformats.org/drawingml/2006/main" noGrp="1"/>
          </p:cNvSpPr>
          <p:nvPr/>
        </p:nvSpPr>
        <p:spPr>
          <a:xfrm xmlns:a="http://schemas.openxmlformats.org/drawingml/2006/main">
            <a:off x="3524250" y="1638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ctr">
              <a:defRPr sz="1125" b="1">
                <a:solidFill>
                  <a:srgbClr val="DF725B"/>
                </a:solidFill>
                <a:latin typeface="Arial"/>
                <a:ea typeface="Arial"/>
                <a:cs typeface="Arial"/>
              </a:defRPr>
            </a:pPr>
            <a:r>
              <a:rPr sz="1125" b="1">
                <a:solidFill>
                  <a:srgbClr val="DF725B"/>
                </a:solidFill>
                <a:latin typeface="Arial"/>
                <a:ea typeface="Arial"/>
                <a:cs typeface="Arial"/>
              </a:rPr>
              <a:t>REST API + JWT</a:t>
            </a:r>
          </a:p>
        </p:txBody>
      </p:sp>
      <p:sp>
        <p:nvSpPr>
          <p:cNvPr id="24" name="">
            <a:extLst xmlns:a="http://schemas.openxmlformats.org/drawingml/2006/main">
              <a:ext uri="{FF2B5EF4-FFF2-40B4-BE49-F238E27FC236}">
                <a16:creationId xmlns:a16="http://schemas.microsoft.com/office/drawing/2014/main" id="{E6168625-3AA2-41C3-A0F2-ACFD29D098DD}"/>
              </a:ext>
            </a:extLst>
          </p:cNvPr>
          <p:cNvSpPr>
            <a:spLocks xmlns:a="http://schemas.openxmlformats.org/drawingml/2006/main" noGrp="1"/>
          </p:cNvSpPr>
          <p:nvPr/>
        </p:nvSpPr>
        <p:spPr>
          <a:xfrm xmlns:a="http://schemas.openxmlformats.org/drawingml/2006/main">
            <a:off x="9391650" y="16383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ctr">
              <a:defRPr sz="1125" b="1">
                <a:solidFill>
                  <a:srgbClr val="DF725B"/>
                </a:solidFill>
                <a:latin typeface="Arial"/>
                <a:ea typeface="Arial"/>
                <a:cs typeface="Arial"/>
              </a:defRPr>
            </a:pPr>
            <a:r>
              <a:rPr sz="1125" b="1">
                <a:solidFill>
                  <a:srgbClr val="DF725B"/>
                </a:solidFill>
                <a:latin typeface="Arial"/>
                <a:ea typeface="Arial"/>
                <a:cs typeface="Arial"/>
              </a:rPr>
              <a:t>SQLAlchemy</a:t>
            </a:r>
          </a:p>
        </p:txBody>
      </p:sp>
      <p:sp>
        <p:nvSpPr>
          <p:cNvPr id="25" name="">
            <a:extLst xmlns:a="http://schemas.openxmlformats.org/drawingml/2006/main">
              <a:ext uri="{FF2B5EF4-FFF2-40B4-BE49-F238E27FC236}">
                <a16:creationId xmlns:a16="http://schemas.microsoft.com/office/drawing/2014/main" id="{F9E75586-D74A-47FC-87F6-51F6EA0F93CE}"/>
              </a:ext>
            </a:extLst>
          </p:cNvPr>
          <p:cNvSpPr>
            <a:spLocks xmlns:a="http://schemas.openxmlformats.org/drawingml/2006/main" noGrp="1"/>
          </p:cNvSpPr>
          <p:nvPr/>
        </p:nvSpPr>
        <p:spPr>
          <a:xfrm xmlns:a="http://schemas.openxmlformats.org/drawingml/2006/main">
            <a:off x="4514850" y="4591050"/>
            <a:ext cx="5143500" cy="1200150"/>
          </a:xfrm>
          <a:prstGeom xmlns:a="http://schemas.openxmlformats.org/drawingml/2006/main" prst="roundRect">
            <a:avLst>
              <a:gd name="adj" fmla="val 14286"/>
            </a:avLst>
          </a:prstGeom>
          <a:solidFill xmlns:a="http://schemas.openxmlformats.org/drawingml/2006/main">
            <a:srgbClr val="FBF7EF"/>
          </a:solidFill>
          <a:ln xmlns:a="http://schemas.openxmlformats.org/drawingml/2006/main" w="9525">
            <a:solidFill>
              <a:srgbClr val="587257"/>
            </a:solidFill>
            <a:prstDash val="solid"/>
          </a:ln>
        </p:spPr>
      </p:sp>
      <p:sp>
        <p:nvSpPr>
          <p:cNvPr id="26" name="">
            <a:extLst xmlns:a="http://schemas.openxmlformats.org/drawingml/2006/main">
              <a:ext uri="{FF2B5EF4-FFF2-40B4-BE49-F238E27FC236}">
                <a16:creationId xmlns:a16="http://schemas.microsoft.com/office/drawing/2014/main" id="{E4FA5231-1D64-4A17-BCCC-ECC1375B868B}"/>
              </a:ext>
            </a:extLst>
          </p:cNvPr>
          <p:cNvSpPr>
            <a:spLocks xmlns:a="http://schemas.openxmlformats.org/drawingml/2006/main" noGrp="1"/>
          </p:cNvSpPr>
          <p:nvPr/>
        </p:nvSpPr>
        <p:spPr>
          <a:xfrm xmlns:a="http://schemas.openxmlformats.org/drawingml/2006/main">
            <a:off x="4762500" y="47910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587257"/>
                </a:solidFill>
                <a:latin typeface="Arial"/>
                <a:ea typeface="Arial"/>
                <a:cs typeface="Arial"/>
              </a:defRPr>
            </a:pPr>
            <a:r>
              <a:rPr sz="1650" b="1">
                <a:solidFill>
                  <a:srgbClr val="587257"/>
                </a:solidFill>
                <a:latin typeface="Arial"/>
                <a:ea typeface="Arial"/>
                <a:cs typeface="Arial"/>
              </a:rPr>
              <a:t>Medical record service</a:t>
            </a:r>
          </a:p>
        </p:txBody>
      </p:sp>
      <p:sp>
        <p:nvSpPr>
          <p:cNvPr id="27" name="">
            <a:extLst xmlns:a="http://schemas.openxmlformats.org/drawingml/2006/main">
              <a:ext uri="{FF2B5EF4-FFF2-40B4-BE49-F238E27FC236}">
                <a16:creationId xmlns:a16="http://schemas.microsoft.com/office/drawing/2014/main" id="{E7EAB33B-6041-4974-8BF8-EB764D7EF6C2}"/>
              </a:ext>
            </a:extLst>
          </p:cNvPr>
          <p:cNvSpPr>
            <a:spLocks xmlns:a="http://schemas.openxmlformats.org/drawingml/2006/main" noGrp="1"/>
          </p:cNvSpPr>
          <p:nvPr/>
        </p:nvSpPr>
        <p:spPr>
          <a:xfrm xmlns:a="http://schemas.openxmlformats.org/drawingml/2006/main">
            <a:off x="4762500" y="51816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2B2621"/>
                </a:solidFill>
                <a:latin typeface="Arial"/>
                <a:ea typeface="Arial"/>
                <a:cs typeface="Arial"/>
              </a:defRPr>
            </a:pPr>
            <a:r>
              <a:rPr sz="1275" b="0">
                <a:solidFill>
                  <a:srgbClr val="2B2621"/>
                </a:solidFill>
                <a:latin typeface="Arial"/>
                <a:ea typeface="Arial"/>
                <a:cs typeface="Arial"/>
              </a:rPr>
              <a:t>OpenAI structured extraction  •  local fallback extractor</a:t>
            </a:r>
          </a:p>
        </p:txBody>
      </p:sp>
      <p:sp>
        <p:nvSpPr>
          <p:cNvPr id="28" name="">
            <a:extLst xmlns:a="http://schemas.openxmlformats.org/drawingml/2006/main">
              <a:ext uri="{FF2B5EF4-FFF2-40B4-BE49-F238E27FC236}">
                <a16:creationId xmlns:a16="http://schemas.microsoft.com/office/drawing/2014/main" id="{673A17C9-AF3D-479B-8B29-46DC166DCF73}"/>
              </a:ext>
            </a:extLst>
          </p:cNvPr>
          <p:cNvSpPr>
            <a:spLocks xmlns:a="http://schemas.openxmlformats.org/drawingml/2006/main" noGrp="1"/>
          </p:cNvSpPr>
          <p:nvPr/>
        </p:nvSpPr>
        <p:spPr>
          <a:xfrm xmlns:a="http://schemas.openxmlformats.org/drawingml/2006/main">
            <a:off x="4762500" y="5467350"/>
            <a:ext cx="4514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0">
                <a:solidFill>
                  <a:srgbClr val="6F695F"/>
                </a:solidFill>
                <a:latin typeface="Arial"/>
                <a:ea typeface="Arial"/>
                <a:cs typeface="Arial"/>
              </a:defRPr>
            </a:pPr>
            <a:r>
              <a:rPr sz="1125" b="0">
                <a:solidFill>
                  <a:srgbClr val="6F695F"/>
                </a:solidFill>
                <a:latin typeface="Arial"/>
                <a:ea typeface="Arial"/>
                <a:cs typeface="Arial"/>
              </a:rPr>
              <a:t>Draft returns to the owner for review before reminders are created.</a:t>
            </a:r>
          </a:p>
        </p:txBody>
      </p:sp>
      <p:sp>
        <p:nvSpPr>
          <p:cNvPr id="29" name="">
            <a:extLst xmlns:a="http://schemas.openxmlformats.org/drawingml/2006/main">
              <a:ext uri="{FF2B5EF4-FFF2-40B4-BE49-F238E27FC236}">
                <a16:creationId xmlns:a16="http://schemas.microsoft.com/office/drawing/2014/main" id="{31455934-EF7F-408D-806F-04F19F40BDF3}"/>
              </a:ext>
            </a:extLst>
          </p:cNvPr>
          <p:cNvSpPr>
            <a:spLocks xmlns:a="http://schemas.openxmlformats.org/drawingml/2006/main" noGrp="1"/>
          </p:cNvSpPr>
          <p:nvPr/>
        </p:nvSpPr>
        <p:spPr>
          <a:xfrm xmlns:a="http://schemas.openxmlformats.org/drawingml/2006/main">
            <a:off x="609600" y="64865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6F695F"/>
                </a:solidFill>
                <a:latin typeface="Arial"/>
                <a:ea typeface="Arial"/>
                <a:cs typeface="Arial"/>
              </a:defRPr>
            </a:pPr>
            <a:r>
              <a:rPr sz="825" b="0">
                <a:solidFill>
                  <a:srgbClr val="6F695F"/>
                </a:solidFill>
                <a:latin typeface="Arial"/>
                <a:ea typeface="Arial"/>
                <a:cs typeface="Arial"/>
              </a:rPr>
              <a:t>PAWRISE  •  MILESTONE 4</a:t>
            </a:r>
          </a:p>
        </p:txBody>
      </p:sp>
      <p:sp>
        <p:nvSpPr>
          <p:cNvPr id="30" name="">
            <a:extLst xmlns:a="http://schemas.openxmlformats.org/drawingml/2006/main">
              <a:ext uri="{FF2B5EF4-FFF2-40B4-BE49-F238E27FC236}">
                <a16:creationId xmlns:a16="http://schemas.microsoft.com/office/drawing/2014/main" id="{1170F08A-4E34-4D87-9107-8E5273423DE9}"/>
              </a:ext>
            </a:extLst>
          </p:cNvPr>
          <p:cNvSpPr>
            <a:spLocks xmlns:a="http://schemas.openxmlformats.org/drawingml/2006/main" noGrp="1"/>
          </p:cNvSpPr>
          <p:nvPr/>
        </p:nvSpPr>
        <p:spPr>
          <a:xfrm xmlns:a="http://schemas.openxmlformats.org/drawingml/2006/main">
            <a:off x="11239500" y="64865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a:solidFill>
                  <a:srgbClr val="6F695F"/>
                </a:solidFill>
                <a:latin typeface="Arial"/>
                <a:ea typeface="Arial"/>
                <a:cs typeface="Arial"/>
              </a:defRPr>
            </a:pPr>
            <a:r>
              <a:rPr sz="825" b="0">
                <a:solidFill>
                  <a:srgbClr val="6F695F"/>
                </a:solidFill>
                <a:latin typeface="Arial"/>
                <a:ea typeface="Arial"/>
                <a:cs typeface="Arial"/>
              </a:rPr>
              <a:t>4</a:t>
            </a:r>
          </a:p>
        </p:txBody>
      </p:sp>
    </p:spTree>
    <p:extLst>
      <p:ext uri="{BB962C8B-B14F-4D97-AF65-F5344CB8AC3E}">
        <p14:creationId xmlns:p14="http://schemas.microsoft.com/office/powerpoint/2010/main" val="715354296"/>
      </p:ext>
    </p:extLst>
  </p:cSld>
</p:sld>
</file>

<file path=ppt/slides/slide5.xml><?xml version="1.0" encoding="utf-8"?>
<p:sld xmlns:p="http://schemas.openxmlformats.org/presentationml/2006/main">
  <p:cSld>
    <p:bg>
      <p:bgPr>
        <a:solidFill xmlns:a="http://schemas.openxmlformats.org/drawingml/2006/main">
          <a:srgbClr val="58725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6CC3C74-B3AD-4194-A462-9D5AF6F1D39A}"/>
              </a:ext>
            </a:extLst>
          </p:cNvPr>
          <p:cNvSpPr>
            <a:spLocks xmlns:a="http://schemas.openxmlformats.org/drawingml/2006/main" noGrp="1"/>
          </p:cNvSpPr>
          <p:nvPr/>
        </p:nvSpPr>
        <p:spPr>
          <a:xfrm xmlns:a="http://schemas.openxmlformats.org/drawingml/2006/main">
            <a:off x="609600" y="5143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A5E5B2"/>
                </a:solidFill>
                <a:latin typeface="Arial"/>
                <a:ea typeface="Arial"/>
                <a:cs typeface="Arial"/>
              </a:defRPr>
            </a:pPr>
            <a:r>
              <a:rPr sz="1275" b="1">
                <a:solidFill>
                  <a:srgbClr val="A5E5B2"/>
                </a:solidFill>
                <a:latin typeface="Arial"/>
                <a:ea typeface="Arial"/>
                <a:cs typeface="Arial"/>
              </a:rPr>
              <a:t>LIVE DEMO</a:t>
            </a:r>
          </a:p>
        </p:txBody>
      </p:sp>
      <p:sp>
        <p:nvSpPr>
          <p:cNvPr id="2" name="">
            <a:extLst xmlns:a="http://schemas.openxmlformats.org/drawingml/2006/main">
              <a:ext uri="{FF2B5EF4-FFF2-40B4-BE49-F238E27FC236}">
                <a16:creationId xmlns:a16="http://schemas.microsoft.com/office/drawing/2014/main" id="{6D465CFF-2984-472E-9C53-431F9C047D27}"/>
              </a:ext>
            </a:extLst>
          </p:cNvPr>
          <p:cNvSpPr>
            <a:spLocks xmlns:a="http://schemas.openxmlformats.org/drawingml/2006/main" noGrp="1"/>
          </p:cNvSpPr>
          <p:nvPr/>
        </p:nvSpPr>
        <p:spPr>
          <a:xfrm xmlns:a="http://schemas.openxmlformats.org/drawingml/2006/main">
            <a:off x="609600" y="1009650"/>
            <a:ext cx="857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600" b="1">
                <a:solidFill>
                  <a:srgbClr val="FFFFFF"/>
                </a:solidFill>
                <a:latin typeface="Georgia"/>
                <a:ea typeface="Georgia"/>
                <a:cs typeface="Georgia"/>
              </a:defRPr>
            </a:pPr>
            <a:r>
              <a:rPr sz="3600" b="1">
                <a:solidFill>
                  <a:srgbClr val="FFFFFF"/>
                </a:solidFill>
                <a:latin typeface="Georgia"/>
                <a:ea typeface="Georgia"/>
                <a:cs typeface="Georgia"/>
              </a:rPr>
              <a:t>Follow the story from homepage to care plan</a:t>
            </a:r>
          </a:p>
        </p:txBody>
      </p:sp>
      <p:sp>
        <p:nvSpPr>
          <p:cNvPr id="3" name="">
            <a:extLst xmlns:a="http://schemas.openxmlformats.org/drawingml/2006/main">
              <a:ext uri="{FF2B5EF4-FFF2-40B4-BE49-F238E27FC236}">
                <a16:creationId xmlns:a16="http://schemas.microsoft.com/office/drawing/2014/main" id="{5A736188-03E3-4578-8AAA-5FB42C435C71}"/>
              </a:ext>
            </a:extLst>
          </p:cNvPr>
          <p:cNvSpPr>
            <a:spLocks xmlns:a="http://schemas.openxmlformats.org/drawingml/2006/main" noGrp="1"/>
          </p:cNvSpPr>
          <p:nvPr/>
        </p:nvSpPr>
        <p:spPr>
          <a:xfrm xmlns:a="http://schemas.openxmlformats.org/drawingml/2006/main">
            <a:off x="685800" y="3333750"/>
            <a:ext cx="10648950" cy="19050"/>
          </a:xfrm>
          <a:prstGeom xmlns:a="http://schemas.openxmlformats.org/drawingml/2006/main" prst="rect">
            <a:avLst/>
          </a:prstGeom>
          <a:solidFill xmlns:a="http://schemas.openxmlformats.org/drawingml/2006/main">
            <a:srgbClr val="D9EC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09DDF5-677B-494F-B56F-7AC6AE88E363}"/>
              </a:ext>
            </a:extLst>
          </p:cNvPr>
          <p:cNvSpPr>
            <a:spLocks xmlns:a="http://schemas.openxmlformats.org/drawingml/2006/main" noGrp="1"/>
          </p:cNvSpPr>
          <p:nvPr/>
        </p:nvSpPr>
        <p:spPr>
          <a:xfrm xmlns:a="http://schemas.openxmlformats.org/drawingml/2006/main">
            <a:off x="685800" y="3181350"/>
            <a:ext cx="323850" cy="323850"/>
          </a:xfrm>
          <a:prstGeom xmlns:a="http://schemas.openxmlformats.org/drawingml/2006/main" prst="ellipse">
            <a:avLst/>
          </a:prstGeom>
          <a:solidFill xmlns:a="http://schemas.openxmlformats.org/drawingml/2006/main">
            <a:srgbClr val="DF725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E353EBE-BF12-47B7-BDF9-2F0B3F28FE24}"/>
              </a:ext>
            </a:extLst>
          </p:cNvPr>
          <p:cNvSpPr>
            <a:spLocks xmlns:a="http://schemas.openxmlformats.org/drawingml/2006/main" noGrp="1"/>
          </p:cNvSpPr>
          <p:nvPr/>
        </p:nvSpPr>
        <p:spPr>
          <a:xfrm xmlns:a="http://schemas.openxmlformats.org/drawingml/2006/main">
            <a:off x="695325" y="32480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6BCF1C6E-3762-495E-BBB0-4CC4B9754F20}"/>
              </a:ext>
            </a:extLst>
          </p:cNvPr>
          <p:cNvSpPr>
            <a:spLocks xmlns:a="http://schemas.openxmlformats.org/drawingml/2006/main" noGrp="1"/>
          </p:cNvSpPr>
          <p:nvPr/>
        </p:nvSpPr>
        <p:spPr>
          <a:xfrm xmlns:a="http://schemas.openxmlformats.org/drawingml/2006/main">
            <a:off x="685800" y="37528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Homepage</a:t>
            </a:r>
          </a:p>
        </p:txBody>
      </p:sp>
      <p:sp>
        <p:nvSpPr>
          <p:cNvPr id="7" name="">
            <a:extLst xmlns:a="http://schemas.openxmlformats.org/drawingml/2006/main">
              <a:ext uri="{FF2B5EF4-FFF2-40B4-BE49-F238E27FC236}">
                <a16:creationId xmlns:a16="http://schemas.microsoft.com/office/drawing/2014/main" id="{0C51AEF3-E9A1-4003-85C6-ACFF4015C6AA}"/>
              </a:ext>
            </a:extLst>
          </p:cNvPr>
          <p:cNvSpPr>
            <a:spLocks xmlns:a="http://schemas.openxmlformats.org/drawingml/2006/main" noGrp="1"/>
          </p:cNvSpPr>
          <p:nvPr/>
        </p:nvSpPr>
        <p:spPr>
          <a:xfrm xmlns:a="http://schemas.openxmlformats.org/drawingml/2006/main">
            <a:off x="685800" y="417195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E7F0E5"/>
                </a:solidFill>
                <a:latin typeface="Arial"/>
                <a:ea typeface="Arial"/>
                <a:cs typeface="Arial"/>
              </a:defRPr>
            </a:pPr>
            <a:r>
              <a:rPr sz="1350" b="0">
                <a:solidFill>
                  <a:srgbClr val="E7F0E5"/>
                </a:solidFill>
                <a:latin typeface="Arial"/>
                <a:ea typeface="Arial"/>
                <a:cs typeface="Arial"/>
              </a:rPr>
              <a:t>Hero → Why PawRise → Features</a:t>
            </a:r>
          </a:p>
        </p:txBody>
      </p:sp>
      <p:sp>
        <p:nvSpPr>
          <p:cNvPr id="8" name="">
            <a:extLst xmlns:a="http://schemas.openxmlformats.org/drawingml/2006/main">
              <a:ext uri="{FF2B5EF4-FFF2-40B4-BE49-F238E27FC236}">
                <a16:creationId xmlns:a16="http://schemas.microsoft.com/office/drawing/2014/main" id="{3D8456ED-17F8-4153-8BC1-603A9530F97D}"/>
              </a:ext>
            </a:extLst>
          </p:cNvPr>
          <p:cNvSpPr>
            <a:spLocks xmlns:a="http://schemas.openxmlformats.org/drawingml/2006/main" noGrp="1"/>
          </p:cNvSpPr>
          <p:nvPr/>
        </p:nvSpPr>
        <p:spPr>
          <a:xfrm xmlns:a="http://schemas.openxmlformats.org/drawingml/2006/main">
            <a:off x="3333750" y="3181350"/>
            <a:ext cx="323850" cy="323850"/>
          </a:xfrm>
          <a:prstGeom xmlns:a="http://schemas.openxmlformats.org/drawingml/2006/main" prst="ellipse">
            <a:avLst/>
          </a:prstGeom>
          <a:solidFill xmlns:a="http://schemas.openxmlformats.org/drawingml/2006/main">
            <a:srgbClr val="DF725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DB193B-FD8A-4013-8772-12A6AF0FEB0B}"/>
              </a:ext>
            </a:extLst>
          </p:cNvPr>
          <p:cNvSpPr>
            <a:spLocks xmlns:a="http://schemas.openxmlformats.org/drawingml/2006/main" noGrp="1"/>
          </p:cNvSpPr>
          <p:nvPr/>
        </p:nvSpPr>
        <p:spPr>
          <a:xfrm xmlns:a="http://schemas.openxmlformats.org/drawingml/2006/main">
            <a:off x="3343275" y="32480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5675DC90-858C-47A1-A08E-8E01298E196C}"/>
              </a:ext>
            </a:extLst>
          </p:cNvPr>
          <p:cNvSpPr>
            <a:spLocks xmlns:a="http://schemas.openxmlformats.org/drawingml/2006/main" noGrp="1"/>
          </p:cNvSpPr>
          <p:nvPr/>
        </p:nvSpPr>
        <p:spPr>
          <a:xfrm xmlns:a="http://schemas.openxmlformats.org/drawingml/2006/main">
            <a:off x="3333750" y="37528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Enter the app</a:t>
            </a:r>
          </a:p>
        </p:txBody>
      </p:sp>
      <p:sp>
        <p:nvSpPr>
          <p:cNvPr id="11" name="">
            <a:extLst xmlns:a="http://schemas.openxmlformats.org/drawingml/2006/main">
              <a:ext uri="{FF2B5EF4-FFF2-40B4-BE49-F238E27FC236}">
                <a16:creationId xmlns:a16="http://schemas.microsoft.com/office/drawing/2014/main" id="{95427700-EBD7-4085-AD3D-BCC90345A1AF}"/>
              </a:ext>
            </a:extLst>
          </p:cNvPr>
          <p:cNvSpPr>
            <a:spLocks xmlns:a="http://schemas.openxmlformats.org/drawingml/2006/main" noGrp="1"/>
          </p:cNvSpPr>
          <p:nvPr/>
        </p:nvSpPr>
        <p:spPr>
          <a:xfrm xmlns:a="http://schemas.openxmlformats.org/drawingml/2006/main">
            <a:off x="3333750" y="417195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E7F0E5"/>
                </a:solidFill>
                <a:latin typeface="Arial"/>
                <a:ea typeface="Arial"/>
                <a:cs typeface="Arial"/>
              </a:defRPr>
            </a:pPr>
            <a:r>
              <a:rPr sz="1350" b="0">
                <a:solidFill>
                  <a:srgbClr val="E7F0E5"/>
                </a:solidFill>
                <a:latin typeface="Arial"/>
                <a:ea typeface="Arial"/>
                <a:cs typeface="Arial"/>
              </a:rPr>
              <a:t>Log in with the prepared account</a:t>
            </a:r>
          </a:p>
        </p:txBody>
      </p:sp>
      <p:sp>
        <p:nvSpPr>
          <p:cNvPr id="12" name="">
            <a:extLst xmlns:a="http://schemas.openxmlformats.org/drawingml/2006/main">
              <a:ext uri="{FF2B5EF4-FFF2-40B4-BE49-F238E27FC236}">
                <a16:creationId xmlns:a16="http://schemas.microsoft.com/office/drawing/2014/main" id="{C7D8977A-2BE3-435D-9730-DFEFA5AB7350}"/>
              </a:ext>
            </a:extLst>
          </p:cNvPr>
          <p:cNvSpPr>
            <a:spLocks xmlns:a="http://schemas.openxmlformats.org/drawingml/2006/main" noGrp="1"/>
          </p:cNvSpPr>
          <p:nvPr/>
        </p:nvSpPr>
        <p:spPr>
          <a:xfrm xmlns:a="http://schemas.openxmlformats.org/drawingml/2006/main">
            <a:off x="5981700" y="3181350"/>
            <a:ext cx="323850" cy="323850"/>
          </a:xfrm>
          <a:prstGeom xmlns:a="http://schemas.openxmlformats.org/drawingml/2006/main" prst="ellipse">
            <a:avLst/>
          </a:prstGeom>
          <a:solidFill xmlns:a="http://schemas.openxmlformats.org/drawingml/2006/main">
            <a:srgbClr val="DF725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1F99F13-7519-4ED4-AD9D-2D89043AC324}"/>
              </a:ext>
            </a:extLst>
          </p:cNvPr>
          <p:cNvSpPr>
            <a:spLocks xmlns:a="http://schemas.openxmlformats.org/drawingml/2006/main" noGrp="1"/>
          </p:cNvSpPr>
          <p:nvPr/>
        </p:nvSpPr>
        <p:spPr>
          <a:xfrm xmlns:a="http://schemas.openxmlformats.org/drawingml/2006/main">
            <a:off x="5991225" y="32480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3CD2AEBF-CBFB-4EB5-94E0-76D3D56D1C73}"/>
              </a:ext>
            </a:extLst>
          </p:cNvPr>
          <p:cNvSpPr>
            <a:spLocks xmlns:a="http://schemas.openxmlformats.org/drawingml/2006/main" noGrp="1"/>
          </p:cNvSpPr>
          <p:nvPr/>
        </p:nvSpPr>
        <p:spPr>
          <a:xfrm xmlns:a="http://schemas.openxmlformats.org/drawingml/2006/main">
            <a:off x="5981700" y="37528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Medical record</a:t>
            </a:r>
          </a:p>
        </p:txBody>
      </p:sp>
      <p:sp>
        <p:nvSpPr>
          <p:cNvPr id="15" name="">
            <a:extLst xmlns:a="http://schemas.openxmlformats.org/drawingml/2006/main">
              <a:ext uri="{FF2B5EF4-FFF2-40B4-BE49-F238E27FC236}">
                <a16:creationId xmlns:a16="http://schemas.microsoft.com/office/drawing/2014/main" id="{CD97F7A1-041A-4E3D-83F9-F0F22651957E}"/>
              </a:ext>
            </a:extLst>
          </p:cNvPr>
          <p:cNvSpPr>
            <a:spLocks xmlns:a="http://schemas.openxmlformats.org/drawingml/2006/main" noGrp="1"/>
          </p:cNvSpPr>
          <p:nvPr/>
        </p:nvSpPr>
        <p:spPr>
          <a:xfrm xmlns:a="http://schemas.openxmlformats.org/drawingml/2006/main">
            <a:off x="5981700" y="417195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E7F0E5"/>
                </a:solidFill>
                <a:latin typeface="Arial"/>
                <a:ea typeface="Arial"/>
                <a:cs typeface="Arial"/>
              </a:defRPr>
            </a:pPr>
            <a:r>
              <a:rPr sz="1350" b="0">
                <a:solidFill>
                  <a:srgbClr val="E7F0E5"/>
                </a:solidFill>
                <a:latin typeface="Arial"/>
                <a:ea typeface="Arial"/>
                <a:cs typeface="Arial"/>
              </a:rPr>
              <a:t>Paste instructions → review draft</a:t>
            </a:r>
          </a:p>
        </p:txBody>
      </p:sp>
      <p:sp>
        <p:nvSpPr>
          <p:cNvPr id="16" name="">
            <a:extLst xmlns:a="http://schemas.openxmlformats.org/drawingml/2006/main">
              <a:ext uri="{FF2B5EF4-FFF2-40B4-BE49-F238E27FC236}">
                <a16:creationId xmlns:a16="http://schemas.microsoft.com/office/drawing/2014/main" id="{BF0F5565-9E02-4DF5-AAD5-5EBCF8D95454}"/>
              </a:ext>
            </a:extLst>
          </p:cNvPr>
          <p:cNvSpPr>
            <a:spLocks xmlns:a="http://schemas.openxmlformats.org/drawingml/2006/main" noGrp="1"/>
          </p:cNvSpPr>
          <p:nvPr/>
        </p:nvSpPr>
        <p:spPr>
          <a:xfrm xmlns:a="http://schemas.openxmlformats.org/drawingml/2006/main">
            <a:off x="8629650" y="3181350"/>
            <a:ext cx="323850" cy="323850"/>
          </a:xfrm>
          <a:prstGeom xmlns:a="http://schemas.openxmlformats.org/drawingml/2006/main" prst="ellipse">
            <a:avLst/>
          </a:prstGeom>
          <a:solidFill xmlns:a="http://schemas.openxmlformats.org/drawingml/2006/main">
            <a:srgbClr val="DF725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5B13365-5F7D-4929-BFC2-68B91C6D62C2}"/>
              </a:ext>
            </a:extLst>
          </p:cNvPr>
          <p:cNvSpPr>
            <a:spLocks xmlns:a="http://schemas.openxmlformats.org/drawingml/2006/main" noGrp="1"/>
          </p:cNvSpPr>
          <p:nvPr/>
        </p:nvSpPr>
        <p:spPr>
          <a:xfrm xmlns:a="http://schemas.openxmlformats.org/drawingml/2006/main">
            <a:off x="8639175" y="32480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4C5E0009-4762-45F5-8667-94C9D64BAFCC}"/>
              </a:ext>
            </a:extLst>
          </p:cNvPr>
          <p:cNvSpPr>
            <a:spLocks xmlns:a="http://schemas.openxmlformats.org/drawingml/2006/main" noGrp="1"/>
          </p:cNvSpPr>
          <p:nvPr/>
        </p:nvSpPr>
        <p:spPr>
          <a:xfrm xmlns:a="http://schemas.openxmlformats.org/drawingml/2006/main">
            <a:off x="8629650" y="37528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Care plan</a:t>
            </a:r>
          </a:p>
        </p:txBody>
      </p:sp>
      <p:sp>
        <p:nvSpPr>
          <p:cNvPr id="19" name="">
            <a:extLst xmlns:a="http://schemas.openxmlformats.org/drawingml/2006/main">
              <a:ext uri="{FF2B5EF4-FFF2-40B4-BE49-F238E27FC236}">
                <a16:creationId xmlns:a16="http://schemas.microsoft.com/office/drawing/2014/main" id="{674B5E47-86D1-4599-A1C4-6226328E5B86}"/>
              </a:ext>
            </a:extLst>
          </p:cNvPr>
          <p:cNvSpPr>
            <a:spLocks xmlns:a="http://schemas.openxmlformats.org/drawingml/2006/main" noGrp="1"/>
          </p:cNvSpPr>
          <p:nvPr/>
        </p:nvSpPr>
        <p:spPr>
          <a:xfrm xmlns:a="http://schemas.openxmlformats.org/drawingml/2006/main">
            <a:off x="8629650" y="417195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E7F0E5"/>
                </a:solidFill>
                <a:latin typeface="Arial"/>
                <a:ea typeface="Arial"/>
                <a:cs typeface="Arial"/>
              </a:defRPr>
            </a:pPr>
            <a:r>
              <a:rPr sz="1350" b="0">
                <a:solidFill>
                  <a:srgbClr val="E7F0E5"/>
                </a:solidFill>
                <a:latin typeface="Arial"/>
                <a:ea typeface="Arial"/>
                <a:cs typeface="Arial"/>
              </a:rPr>
              <a:t>Confirm reminders → dashboard/history</a:t>
            </a:r>
          </a:p>
        </p:txBody>
      </p:sp>
      <p:sp>
        <p:nvSpPr>
          <p:cNvPr id="20" name="">
            <a:extLst xmlns:a="http://schemas.openxmlformats.org/drawingml/2006/main">
              <a:ext uri="{FF2B5EF4-FFF2-40B4-BE49-F238E27FC236}">
                <a16:creationId xmlns:a16="http://schemas.microsoft.com/office/drawing/2014/main" id="{05DEC8A1-ABFF-46AF-B76A-808CCA727126}"/>
              </a:ext>
            </a:extLst>
          </p:cNvPr>
          <p:cNvSpPr>
            <a:spLocks xmlns:a="http://schemas.openxmlformats.org/drawingml/2006/main" noGrp="1"/>
          </p:cNvSpPr>
          <p:nvPr/>
        </p:nvSpPr>
        <p:spPr>
          <a:xfrm xmlns:a="http://schemas.openxmlformats.org/drawingml/2006/main">
            <a:off x="609600" y="582930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0">
                <a:solidFill>
                  <a:srgbClr val="E7F0E5"/>
                </a:solidFill>
                <a:latin typeface="Arial"/>
                <a:ea typeface="Arial"/>
                <a:cs typeface="Arial"/>
              </a:defRPr>
            </a:pPr>
            <a:r>
              <a:rPr sz="1350" b="0">
                <a:solidFill>
                  <a:srgbClr val="E7F0E5"/>
                </a:solidFill>
                <a:latin typeface="Arial"/>
                <a:ea typeface="Arial"/>
                <a:cs typeface="Arial"/>
              </a:rPr>
              <a:t>Keep the demo browser ready before presenting. Do not open the code unless asked in Q&amp;A.</a:t>
            </a:r>
          </a:p>
        </p:txBody>
      </p:sp>
      <p:sp>
        <p:nvSpPr>
          <p:cNvPr id="21" name="">
            <a:extLst xmlns:a="http://schemas.openxmlformats.org/drawingml/2006/main">
              <a:ext uri="{FF2B5EF4-FFF2-40B4-BE49-F238E27FC236}">
                <a16:creationId xmlns:a16="http://schemas.microsoft.com/office/drawing/2014/main" id="{B6C00F88-4011-46A1-B5D8-71825F019DB7}"/>
              </a:ext>
            </a:extLst>
          </p:cNvPr>
          <p:cNvSpPr>
            <a:spLocks xmlns:a="http://schemas.openxmlformats.org/drawingml/2006/main" noGrp="1"/>
          </p:cNvSpPr>
          <p:nvPr/>
        </p:nvSpPr>
        <p:spPr>
          <a:xfrm xmlns:a="http://schemas.openxmlformats.org/drawingml/2006/main">
            <a:off x="11239500" y="64865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a:solidFill>
                  <a:srgbClr val="E7F0E5"/>
                </a:solidFill>
                <a:latin typeface="Arial"/>
                <a:ea typeface="Arial"/>
                <a:cs typeface="Arial"/>
              </a:defRPr>
            </a:pPr>
            <a:r>
              <a:rPr sz="825" b="0">
                <a:solidFill>
                  <a:srgbClr val="E7F0E5"/>
                </a:solidFill>
                <a:latin typeface="Arial"/>
                <a:ea typeface="Arial"/>
                <a:cs typeface="Arial"/>
              </a:rPr>
              <a:t>5</a:t>
            </a:r>
          </a:p>
        </p:txBody>
      </p:sp>
    </p:spTree>
    <p:extLst>
      <p:ext uri="{BB962C8B-B14F-4D97-AF65-F5344CB8AC3E}">
        <p14:creationId xmlns:p14="http://schemas.microsoft.com/office/powerpoint/2010/main" val="2032873511"/>
      </p:ext>
    </p:extLst>
  </p:cSld>
</p:sld>
</file>

<file path=ppt/slides/slide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16" name="section-kicker">
            <a:extLst xmlns:a="http://schemas.openxmlformats.org/drawingml/2006/main">
              <a:ext uri="{FF2B5EF4-FFF2-40B4-BE49-F238E27FC236}">
                <a16:creationId xmlns:a16="http://schemas.microsoft.com/office/drawing/2014/main" id="{7157AB6B-0A11-4FCF-8493-A87480BF466E}"/>
              </a:ext>
            </a:extLst>
          </p:cNvPr>
          <p:cNvSpPr>
            <a:spLocks xmlns:a="http://schemas.openxmlformats.org/drawingml/2006/main" noGrp="1"/>
          </p:cNvSpPr>
          <p:nvPr/>
        </p:nvSpPr>
        <p:spPr>
          <a:xfrm xmlns:a="http://schemas.openxmlformats.org/drawingml/2006/main">
            <a:off x="609600" y="361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DF725B"/>
                </a:solidFill>
                <a:latin typeface="Arial"/>
                <a:ea typeface="Arial"/>
                <a:cs typeface="Arial"/>
              </a:defRPr>
            </a:pPr>
            <a:r>
              <a:rPr sz="1200" b="1">
                <a:solidFill>
                  <a:srgbClr val="DF725B"/>
                </a:solidFill>
                <a:latin typeface="Arial"/>
                <a:ea typeface="Arial"/>
                <a:cs typeface="Arial"/>
              </a:rPr>
              <a:t>READY FOR THE DRY RUN</a:t>
            </a:r>
          </a:p>
        </p:txBody>
      </p:sp>
      <p:sp>
        <p:nvSpPr>
          <p:cNvPr id="2" name="">
            <a:extLst xmlns:a="http://schemas.openxmlformats.org/drawingml/2006/main">
              <a:ext uri="{FF2B5EF4-FFF2-40B4-BE49-F238E27FC236}">
                <a16:creationId xmlns:a16="http://schemas.microsoft.com/office/drawing/2014/main" id="{D558CD86-5DA2-495A-8663-C092B22E5352}"/>
              </a:ext>
            </a:extLst>
          </p:cNvPr>
          <p:cNvSpPr>
            <a:spLocks xmlns:a="http://schemas.openxmlformats.org/drawingml/2006/main" noGrp="1"/>
          </p:cNvSpPr>
          <p:nvPr/>
        </p:nvSpPr>
        <p:spPr>
          <a:xfrm xmlns:a="http://schemas.openxmlformats.org/drawingml/2006/main">
            <a:off x="609600" y="781050"/>
            <a:ext cx="933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925" b="1">
                <a:solidFill>
                  <a:srgbClr val="2B2621"/>
                </a:solidFill>
                <a:latin typeface="Georgia"/>
                <a:ea typeface="Georgia"/>
                <a:cs typeface="Georgia"/>
              </a:defRPr>
            </a:pPr>
            <a:r>
              <a:rPr sz="2925" b="1">
                <a:solidFill>
                  <a:srgbClr val="2B2621"/>
                </a:solidFill>
                <a:latin typeface="Georgia"/>
                <a:ea typeface="Georgia"/>
                <a:cs typeface="Georgia"/>
              </a:rPr>
              <a:t>The solution is integrated, tested, and ready to demonstrate</a:t>
            </a:r>
          </a:p>
        </p:txBody>
      </p:sp>
      <p:sp>
        <p:nvSpPr>
          <p:cNvPr id="3" name="">
            <a:extLst xmlns:a="http://schemas.openxmlformats.org/drawingml/2006/main">
              <a:ext uri="{FF2B5EF4-FFF2-40B4-BE49-F238E27FC236}">
                <a16:creationId xmlns:a16="http://schemas.microsoft.com/office/drawing/2014/main" id="{551B997D-3E7E-4AD1-9997-9D7DEFC5CAC3}"/>
              </a:ext>
            </a:extLst>
          </p:cNvPr>
          <p:cNvSpPr>
            <a:spLocks xmlns:a="http://schemas.openxmlformats.org/drawingml/2006/main" noGrp="1"/>
          </p:cNvSpPr>
          <p:nvPr/>
        </p:nvSpPr>
        <p:spPr>
          <a:xfrm xmlns:a="http://schemas.openxmlformats.org/drawingml/2006/main">
            <a:off x="609600" y="2038350"/>
            <a:ext cx="3143250" cy="2000250"/>
          </a:xfrm>
          <a:prstGeom xmlns:a="http://schemas.openxmlformats.org/drawingml/2006/main" prst="roundRect">
            <a:avLst>
              <a:gd name="adj" fmla="val 9524"/>
            </a:avLst>
          </a:prstGeom>
          <a:solidFill xmlns:a="http://schemas.openxmlformats.org/drawingml/2006/main">
            <a:srgbClr val="E6EEE3"/>
          </a:solidFill>
          <a:ln xmlns:a="http://schemas.openxmlformats.org/drawingml/2006/main" w="9525">
            <a:solidFill>
              <a:srgbClr val="D9D1C6"/>
            </a:solidFill>
            <a:prstDash val="solid"/>
          </a:ln>
        </p:spPr>
      </p:sp>
      <p:sp>
        <p:nvSpPr>
          <p:cNvPr id="4" name="">
            <a:extLst xmlns:a="http://schemas.openxmlformats.org/drawingml/2006/main">
              <a:ext uri="{FF2B5EF4-FFF2-40B4-BE49-F238E27FC236}">
                <a16:creationId xmlns:a16="http://schemas.microsoft.com/office/drawing/2014/main" id="{E0B432CE-AC0D-42AC-A94E-5625DAD35BFB}"/>
              </a:ext>
            </a:extLst>
          </p:cNvPr>
          <p:cNvSpPr>
            <a:spLocks xmlns:a="http://schemas.openxmlformats.org/drawingml/2006/main" noGrp="1"/>
          </p:cNvSpPr>
          <p:nvPr/>
        </p:nvSpPr>
        <p:spPr>
          <a:xfrm xmlns:a="http://schemas.openxmlformats.org/drawingml/2006/main">
            <a:off x="876300" y="2381250"/>
            <a:ext cx="2609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a:solidFill>
                  <a:srgbClr val="587257"/>
                </a:solidFill>
                <a:latin typeface="Arial"/>
                <a:ea typeface="Arial"/>
                <a:cs typeface="Arial"/>
              </a:defRPr>
            </a:pPr>
            <a:r>
              <a:rPr sz="3450" b="1">
                <a:solidFill>
                  <a:srgbClr val="587257"/>
                </a:solidFill>
                <a:latin typeface="Arial"/>
                <a:ea typeface="Arial"/>
                <a:cs typeface="Arial"/>
              </a:rPr>
              <a:t>69 / 69</a:t>
            </a:r>
          </a:p>
        </p:txBody>
      </p:sp>
      <p:sp>
        <p:nvSpPr>
          <p:cNvPr id="5" name="">
            <a:extLst xmlns:a="http://schemas.openxmlformats.org/drawingml/2006/main">
              <a:ext uri="{FF2B5EF4-FFF2-40B4-BE49-F238E27FC236}">
                <a16:creationId xmlns:a16="http://schemas.microsoft.com/office/drawing/2014/main" id="{45541BB8-C7A4-4C2F-93AC-B899953431FD}"/>
              </a:ext>
            </a:extLst>
          </p:cNvPr>
          <p:cNvSpPr>
            <a:spLocks xmlns:a="http://schemas.openxmlformats.org/drawingml/2006/main" noGrp="1"/>
          </p:cNvSpPr>
          <p:nvPr/>
        </p:nvSpPr>
        <p:spPr>
          <a:xfrm xmlns:a="http://schemas.openxmlformats.org/drawingml/2006/main">
            <a:off x="876300" y="3257550"/>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2B2621"/>
                </a:solidFill>
                <a:latin typeface="Arial"/>
                <a:ea typeface="Arial"/>
                <a:cs typeface="Arial"/>
              </a:defRPr>
            </a:pPr>
            <a:r>
              <a:rPr sz="1500" b="0">
                <a:solidFill>
                  <a:srgbClr val="2B2621"/>
                </a:solidFill>
                <a:latin typeface="Arial"/>
                <a:ea typeface="Arial"/>
                <a:cs typeface="Arial"/>
              </a:rPr>
              <a:t>backend tests passed</a:t>
            </a:r>
          </a:p>
        </p:txBody>
      </p:sp>
      <p:sp>
        <p:nvSpPr>
          <p:cNvPr id="6" name="">
            <a:extLst xmlns:a="http://schemas.openxmlformats.org/drawingml/2006/main">
              <a:ext uri="{FF2B5EF4-FFF2-40B4-BE49-F238E27FC236}">
                <a16:creationId xmlns:a16="http://schemas.microsoft.com/office/drawing/2014/main" id="{A69EA168-6AB1-48BC-9E71-448A96D88CA3}"/>
              </a:ext>
            </a:extLst>
          </p:cNvPr>
          <p:cNvSpPr>
            <a:spLocks xmlns:a="http://schemas.openxmlformats.org/drawingml/2006/main" noGrp="1"/>
          </p:cNvSpPr>
          <p:nvPr/>
        </p:nvSpPr>
        <p:spPr>
          <a:xfrm xmlns:a="http://schemas.openxmlformats.org/drawingml/2006/main">
            <a:off x="4133850" y="2038350"/>
            <a:ext cx="3143250" cy="2000250"/>
          </a:xfrm>
          <a:prstGeom xmlns:a="http://schemas.openxmlformats.org/drawingml/2006/main" prst="roundRect">
            <a:avLst>
              <a:gd name="adj" fmla="val 9524"/>
            </a:avLst>
          </a:prstGeom>
          <a:solidFill xmlns:a="http://schemas.openxmlformats.org/drawingml/2006/main">
            <a:srgbClr val="F7E4DE"/>
          </a:solidFill>
          <a:ln xmlns:a="http://schemas.openxmlformats.org/drawingml/2006/main" w="9525">
            <a:solidFill>
              <a:srgbClr val="D9D1C6"/>
            </a:solidFill>
            <a:prstDash val="solid"/>
          </a:ln>
        </p:spPr>
      </p:sp>
      <p:sp>
        <p:nvSpPr>
          <p:cNvPr id="7" name="">
            <a:extLst xmlns:a="http://schemas.openxmlformats.org/drawingml/2006/main">
              <a:ext uri="{FF2B5EF4-FFF2-40B4-BE49-F238E27FC236}">
                <a16:creationId xmlns:a16="http://schemas.microsoft.com/office/drawing/2014/main" id="{EA9A850B-7C49-44F8-83F0-374A1888A125}"/>
              </a:ext>
            </a:extLst>
          </p:cNvPr>
          <p:cNvSpPr>
            <a:spLocks xmlns:a="http://schemas.openxmlformats.org/drawingml/2006/main" noGrp="1"/>
          </p:cNvSpPr>
          <p:nvPr/>
        </p:nvSpPr>
        <p:spPr>
          <a:xfrm xmlns:a="http://schemas.openxmlformats.org/drawingml/2006/main">
            <a:off x="4400550" y="2381250"/>
            <a:ext cx="2609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a:solidFill>
                  <a:srgbClr val="DF725B"/>
                </a:solidFill>
                <a:latin typeface="Arial"/>
                <a:ea typeface="Arial"/>
                <a:cs typeface="Arial"/>
              </a:defRPr>
            </a:pPr>
            <a:r>
              <a:rPr sz="3450" b="1">
                <a:solidFill>
                  <a:srgbClr val="DF725B"/>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73F9F15B-D16C-4977-9468-A4CB640198F0}"/>
              </a:ext>
            </a:extLst>
          </p:cNvPr>
          <p:cNvSpPr>
            <a:spLocks xmlns:a="http://schemas.openxmlformats.org/drawingml/2006/main" noGrp="1"/>
          </p:cNvSpPr>
          <p:nvPr/>
        </p:nvSpPr>
        <p:spPr>
          <a:xfrm xmlns:a="http://schemas.openxmlformats.org/drawingml/2006/main">
            <a:off x="4400550" y="3257550"/>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2B2621"/>
                </a:solidFill>
                <a:latin typeface="Arial"/>
                <a:ea typeface="Arial"/>
                <a:cs typeface="Arial"/>
              </a:defRPr>
            </a:pPr>
            <a:r>
              <a:rPr sz="1500" b="0">
                <a:solidFill>
                  <a:srgbClr val="2B2621"/>
                </a:solidFill>
                <a:latin typeface="Arial"/>
                <a:ea typeface="Arial"/>
                <a:cs typeface="Arial"/>
              </a:rPr>
              <a:t>test failures</a:t>
            </a:r>
          </a:p>
        </p:txBody>
      </p:sp>
      <p:sp>
        <p:nvSpPr>
          <p:cNvPr id="9" name="">
            <a:extLst xmlns:a="http://schemas.openxmlformats.org/drawingml/2006/main">
              <a:ext uri="{FF2B5EF4-FFF2-40B4-BE49-F238E27FC236}">
                <a16:creationId xmlns:a16="http://schemas.microsoft.com/office/drawing/2014/main" id="{5313C6F0-D183-472D-8D1F-3C8F354360AD}"/>
              </a:ext>
            </a:extLst>
          </p:cNvPr>
          <p:cNvSpPr>
            <a:spLocks xmlns:a="http://schemas.openxmlformats.org/drawingml/2006/main" noGrp="1"/>
          </p:cNvSpPr>
          <p:nvPr/>
        </p:nvSpPr>
        <p:spPr>
          <a:xfrm xmlns:a="http://schemas.openxmlformats.org/drawingml/2006/main">
            <a:off x="7658100" y="2038350"/>
            <a:ext cx="3143250" cy="2000250"/>
          </a:xfrm>
          <a:prstGeom xmlns:a="http://schemas.openxmlformats.org/drawingml/2006/main" prst="roundRect">
            <a:avLst>
              <a:gd name="adj" fmla="val 9524"/>
            </a:avLst>
          </a:prstGeom>
          <a:solidFill xmlns:a="http://schemas.openxmlformats.org/drawingml/2006/main">
            <a:srgbClr val="E6EEE3"/>
          </a:solidFill>
          <a:ln xmlns:a="http://schemas.openxmlformats.org/drawingml/2006/main" w="9525">
            <a:solidFill>
              <a:srgbClr val="D9D1C6"/>
            </a:solidFill>
            <a:prstDash val="solid"/>
          </a:ln>
        </p:spPr>
      </p:sp>
      <p:sp>
        <p:nvSpPr>
          <p:cNvPr id="10" name="">
            <a:extLst xmlns:a="http://schemas.openxmlformats.org/drawingml/2006/main">
              <a:ext uri="{FF2B5EF4-FFF2-40B4-BE49-F238E27FC236}">
                <a16:creationId xmlns:a16="http://schemas.microsoft.com/office/drawing/2014/main" id="{D168B31F-4544-4005-BC1E-E01D3537F373}"/>
              </a:ext>
            </a:extLst>
          </p:cNvPr>
          <p:cNvSpPr>
            <a:spLocks xmlns:a="http://schemas.openxmlformats.org/drawingml/2006/main" noGrp="1"/>
          </p:cNvSpPr>
          <p:nvPr/>
        </p:nvSpPr>
        <p:spPr>
          <a:xfrm xmlns:a="http://schemas.openxmlformats.org/drawingml/2006/main">
            <a:off x="7924800" y="2381250"/>
            <a:ext cx="2609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a:solidFill>
                  <a:srgbClr val="587257"/>
                </a:solidFill>
                <a:latin typeface="Arial"/>
                <a:ea typeface="Arial"/>
                <a:cs typeface="Arial"/>
              </a:defRPr>
            </a:pPr>
            <a:r>
              <a:rPr sz="3450" b="1">
                <a:solidFill>
                  <a:srgbClr val="587257"/>
                </a:solidFill>
                <a:latin typeface="Arial"/>
                <a:ea typeface="Arial"/>
                <a:cs typeface="Arial"/>
              </a:rPr>
              <a:t>PASS</a:t>
            </a:r>
          </a:p>
        </p:txBody>
      </p:sp>
      <p:sp>
        <p:nvSpPr>
          <p:cNvPr id="11" name="">
            <a:extLst xmlns:a="http://schemas.openxmlformats.org/drawingml/2006/main">
              <a:ext uri="{FF2B5EF4-FFF2-40B4-BE49-F238E27FC236}">
                <a16:creationId xmlns:a16="http://schemas.microsoft.com/office/drawing/2014/main" id="{9CCE4051-1BF5-47BA-A99A-BB2D788EB4D5}"/>
              </a:ext>
            </a:extLst>
          </p:cNvPr>
          <p:cNvSpPr>
            <a:spLocks xmlns:a="http://schemas.openxmlformats.org/drawingml/2006/main" noGrp="1"/>
          </p:cNvSpPr>
          <p:nvPr/>
        </p:nvSpPr>
        <p:spPr>
          <a:xfrm xmlns:a="http://schemas.openxmlformats.org/drawingml/2006/main">
            <a:off x="7924800" y="3257550"/>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2B2621"/>
                </a:solidFill>
                <a:latin typeface="Arial"/>
                <a:ea typeface="Arial"/>
                <a:cs typeface="Arial"/>
              </a:defRPr>
            </a:pPr>
            <a:r>
              <a:rPr sz="1500" b="0">
                <a:solidFill>
                  <a:srgbClr val="2B2621"/>
                </a:solidFill>
                <a:latin typeface="Arial"/>
                <a:ea typeface="Arial"/>
                <a:cs typeface="Arial"/>
              </a:rPr>
              <a:t>frontend production build</a:t>
            </a:r>
          </a:p>
        </p:txBody>
      </p:sp>
      <p:sp>
        <p:nvSpPr>
          <p:cNvPr id="12" name="">
            <a:extLst xmlns:a="http://schemas.openxmlformats.org/drawingml/2006/main">
              <a:ext uri="{FF2B5EF4-FFF2-40B4-BE49-F238E27FC236}">
                <a16:creationId xmlns:a16="http://schemas.microsoft.com/office/drawing/2014/main" id="{1D7F4CBE-C396-4DF8-8804-3C2CE3EF28CA}"/>
              </a:ext>
            </a:extLst>
          </p:cNvPr>
          <p:cNvSpPr>
            <a:spLocks xmlns:a="http://schemas.openxmlformats.org/drawingml/2006/main" noGrp="1"/>
          </p:cNvSpPr>
          <p:nvPr/>
        </p:nvSpPr>
        <p:spPr>
          <a:xfrm xmlns:a="http://schemas.openxmlformats.org/drawingml/2006/main">
            <a:off x="609600" y="4629150"/>
            <a:ext cx="9048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24"/>
          </a:bodyPr>
          <a:lstStyle xmlns:a="http://schemas.openxmlformats.org/drawingml/2006/main"/>
          <a:p xmlns:a="http://schemas.openxmlformats.org/drawingml/2006/main">
            <a:pPr algn="l">
              <a:defRPr sz="2325" b="1">
                <a:solidFill>
                  <a:srgbClr val="2B2621"/>
                </a:solidFill>
                <a:latin typeface="Georgia"/>
                <a:ea typeface="Georgia"/>
                <a:cs typeface="Georgia"/>
              </a:defRPr>
            </a:pPr>
            <a:r>
              <a:rPr sz="2325" b="1">
                <a:solidFill>
                  <a:srgbClr val="2B2621"/>
                </a:solidFill>
                <a:latin typeface="Georgia"/>
                <a:ea typeface="Georgia"/>
                <a:cs typeface="Georgia"/>
              </a:rPr>
              <a:t>PawRise turns scattered pet-care details into one clear, trusted workflow.</a:t>
            </a:r>
          </a:p>
        </p:txBody>
      </p:sp>
      <p:sp>
        <p:nvSpPr>
          <p:cNvPr id="13" name="">
            <a:extLst xmlns:a="http://schemas.openxmlformats.org/drawingml/2006/main">
              <a:ext uri="{FF2B5EF4-FFF2-40B4-BE49-F238E27FC236}">
                <a16:creationId xmlns:a16="http://schemas.microsoft.com/office/drawing/2014/main" id="{9BCC41DC-A481-4D6F-A88F-7DEAF873B4A4}"/>
              </a:ext>
            </a:extLst>
          </p:cNvPr>
          <p:cNvSpPr>
            <a:spLocks xmlns:a="http://schemas.openxmlformats.org/drawingml/2006/main" noGrp="1"/>
          </p:cNvSpPr>
          <p:nvPr/>
        </p:nvSpPr>
        <p:spPr>
          <a:xfrm xmlns:a="http://schemas.openxmlformats.org/drawingml/2006/main">
            <a:off x="609600" y="56197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DF725B"/>
                </a:solidFill>
                <a:latin typeface="Arial"/>
                <a:ea typeface="Arial"/>
                <a:cs typeface="Arial"/>
              </a:defRPr>
            </a:pPr>
            <a:r>
              <a:rPr sz="1800" b="1">
                <a:solidFill>
                  <a:srgbClr val="DF725B"/>
                </a:solidFill>
                <a:latin typeface="Arial"/>
                <a:ea typeface="Arial"/>
                <a:cs typeface="Arial"/>
              </a:rPr>
              <a:t>Questions?</a:t>
            </a:r>
          </a:p>
        </p:txBody>
      </p:sp>
      <p:sp>
        <p:nvSpPr>
          <p:cNvPr id="14" name="">
            <a:extLst xmlns:a="http://schemas.openxmlformats.org/drawingml/2006/main">
              <a:ext uri="{FF2B5EF4-FFF2-40B4-BE49-F238E27FC236}">
                <a16:creationId xmlns:a16="http://schemas.microsoft.com/office/drawing/2014/main" id="{AB617E68-EDB3-4B25-A540-7309A16E9E8E}"/>
              </a:ext>
            </a:extLst>
          </p:cNvPr>
          <p:cNvSpPr>
            <a:spLocks xmlns:a="http://schemas.openxmlformats.org/drawingml/2006/main" noGrp="1"/>
          </p:cNvSpPr>
          <p:nvPr/>
        </p:nvSpPr>
        <p:spPr>
          <a:xfrm xmlns:a="http://schemas.openxmlformats.org/drawingml/2006/main">
            <a:off x="609600" y="64865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defRPr sz="825" b="0">
                <a:solidFill>
                  <a:srgbClr val="6F695F"/>
                </a:solidFill>
                <a:latin typeface="Arial"/>
                <a:ea typeface="Arial"/>
                <a:cs typeface="Arial"/>
              </a:defRPr>
            </a:pPr>
            <a:r>
              <a:rPr sz="825" b="0">
                <a:solidFill>
                  <a:srgbClr val="6F695F"/>
                </a:solidFill>
                <a:latin typeface="Arial"/>
                <a:ea typeface="Arial"/>
                <a:cs typeface="Arial"/>
              </a:rPr>
              <a:t>PAWRISE  •  MILESTONE 4</a:t>
            </a:r>
          </a:p>
        </p:txBody>
      </p:sp>
      <p:sp>
        <p:nvSpPr>
          <p:cNvPr id="15" name="">
            <a:extLst xmlns:a="http://schemas.openxmlformats.org/drawingml/2006/main">
              <a:ext uri="{FF2B5EF4-FFF2-40B4-BE49-F238E27FC236}">
                <a16:creationId xmlns:a16="http://schemas.microsoft.com/office/drawing/2014/main" id="{ED68AEFC-F213-4D31-9DDC-507DC6512036}"/>
              </a:ext>
            </a:extLst>
          </p:cNvPr>
          <p:cNvSpPr>
            <a:spLocks xmlns:a="http://schemas.openxmlformats.org/drawingml/2006/main" noGrp="1"/>
          </p:cNvSpPr>
          <p:nvPr/>
        </p:nvSpPr>
        <p:spPr>
          <a:xfrm xmlns:a="http://schemas.openxmlformats.org/drawingml/2006/main">
            <a:off x="11239500" y="648652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defRPr sz="825" b="0">
                <a:solidFill>
                  <a:srgbClr val="6F695F"/>
                </a:solidFill>
                <a:latin typeface="Arial"/>
                <a:ea typeface="Arial"/>
                <a:cs typeface="Arial"/>
              </a:defRPr>
            </a:pPr>
            <a:r>
              <a:rPr sz="825" b="0">
                <a:solidFill>
                  <a:srgbClr val="6F695F"/>
                </a:solidFill>
                <a:latin typeface="Arial"/>
                <a:ea typeface="Arial"/>
                <a:cs typeface="Arial"/>
              </a:rPr>
              <a:t>6</a:t>
            </a:r>
          </a:p>
        </p:txBody>
      </p:sp>
    </p:spTree>
    <p:extLst>
      <p:ext uri="{BB962C8B-B14F-4D97-AF65-F5344CB8AC3E}">
        <p14:creationId xmlns:p14="http://schemas.microsoft.com/office/powerpoint/2010/main" val="1763594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2026-08-10T17:14:26.0950000Z</dcterms:created>
  <dcterms:modified xsi:type="dcterms:W3CDTF">2026-08-10T17:14:26.0950000Z</dcterms:modified>
</coreProperties>
</file>